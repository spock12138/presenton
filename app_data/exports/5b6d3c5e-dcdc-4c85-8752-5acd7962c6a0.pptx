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presentation on AI in medical imaging, emphasizing its transformative role in improving diagnostic accuracy and speed. Highlight that this is the first of eight parts.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 learning models, especially CNNs, are now capable of detecting abnormalities in medical images with accuracy comparable to human radiologists. Recent studies highlight their effectiveness in analyzing X-rays, CT scans, and MRIs, improving early病</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Health's AI model has shown significant improvements in breast cancer screening by reducing false positives and negatives across diverse populations. Tools like Aidoc and Zebra Medical Vision are already in clinical use, demonstrating real-wo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is transforming drug discovery by significantly cutting down the time and cost of bringing new treatments to market. Traditional methods are slow and expensive, but AI-driven approaches can identify promising drug candidates in months instead of几年</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BenevolentAI used artificial intelligence to identify a potential ALS treatment now in clinical trials. Over 150 AI-driven drug candidates are in development worldwide, showing AI's growing role in accelerating drug discovery and improving success 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enables personalized treatment by analyzing genomic data, EHRs, lifestyle factors, and biomarkers. Tools like IBM Watson for Oncology process vast medical evidence to support clinical decisions, improving accuracy and patient outcomes in complex病例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platforms like Tempus and Flatiron Health leverage real-world oncology data to enhance survival predictions by up to 22%. In cardiology, AI models assess patient-specific factors to predict heart attack risk with 85% accuracy, enabling earlier,个性化</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AI in healthcare market is expected to grow significantly by 2030, reaching $188B. Key advancements include federated learning, which enables model training across decentralized data while preserving patient privacy, and multimodal AI that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5.png"/><Relationship Id="rId7" Type="http://schemas.openxmlformats.org/officeDocument/2006/relationships/image" Target="../media/image12.png"/><Relationship Id="rId8"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6416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1d1e7ca2-3b6b-4986-ab4e-90e4316d9e73.png"/>
          <p:cNvPicPr>
            <a:picLocks noChangeAspect="1"/>
          </p:cNvPicPr>
          <p:nvPr/>
        </p:nvPicPr>
        <p:blipFill>
          <a:blip r:embed="rId3"/>
          <a:stretch>
            <a:fillRect/>
          </a:stretch>
        </p:blipFill>
        <p:spPr>
          <a:xfrm>
            <a:off x="1117600" y="2641600"/>
            <a:ext cx="6502400" cy="4064000"/>
          </a:xfrm>
          <a:prstGeom prst="rect">
            <a:avLst/>
          </a:prstGeom>
        </p:spPr>
      </p:pic>
      <p:sp>
        <p:nvSpPr>
          <p:cNvPr id="4" name="TextBox 3"/>
          <p:cNvSpPr txBox="1"/>
          <p:nvPr/>
        </p:nvSpPr>
        <p:spPr>
          <a:xfrm>
            <a:off x="8534400" y="2247900"/>
            <a:ext cx="6731000" cy="1524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AI in Medical Imaging Diagnosis</a:t>
            </a:r>
          </a:p>
        </p:txBody>
      </p:sp>
      <p:sp>
        <p:nvSpPr>
          <p:cNvPr id="5" name="Rounded Rectangle 4"/>
          <p:cNvSpPr/>
          <p:nvPr/>
        </p:nvSpPr>
        <p:spPr>
          <a:xfrm>
            <a:off x="8534400" y="40767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4432300"/>
            <a:ext cx="6731000" cy="1066800"/>
          </a:xfrm>
          <a:prstGeom prst="rect">
            <a:avLst/>
          </a:prstGeom>
          <a:noFill/>
        </p:spPr>
        <p:txBody>
          <a:bodyPr wrap="square" lIns="0" rIns="0" tIns="0" bIns="0">
            <a:spAutoFit/>
          </a:bodyPr>
          <a:lstStyle/>
          <a:p>
            <a:pPr algn="l">
              <a:lnSpc>
                <a:spcPct val="126000"/>
              </a:lnSpc>
              <a:defRPr i="0" sz="1800" b="0">
                <a:solidFill>
                  <a:srgbClr val="4B5563"/>
                </a:solidFill>
                <a:latin typeface="Inter"/>
              </a:defRPr>
            </a:pPr>
            <a:r>
              <a:rPr i="0" sz="1800" b="0">
                <a:solidFill>
                  <a:srgbClr val="4B5563"/>
                </a:solidFill>
                <a:latin typeface="Inter"/>
              </a:rPr>
              <a:t>Artificial intelligence is transforming medical imaging by enhancing diagnostic precision and efficiency. This presentation explores key advancements,</a:t>
            </a:r>
          </a:p>
        </p:txBody>
      </p:sp>
      <p:sp>
        <p:nvSpPr>
          <p:cNvPr id="7" name="Rounded Rectangle 6"/>
          <p:cNvSpPr/>
          <p:nvPr/>
        </p:nvSpPr>
        <p:spPr>
          <a:xfrm>
            <a:off x="8534400" y="5803900"/>
            <a:ext cx="6705600" cy="1295400"/>
          </a:xfrm>
          <a:prstGeom prst="roundRect">
            <a:avLst>
              <a:gd name="adj" fmla="val 7843"/>
            </a:avLst>
          </a:prstGeom>
          <a:solidFill>
            <a:srgbClr val="FFFFFF">
              <a:alpha val="50000"/>
            </a:srgbClr>
          </a:solidFill>
          <a:ln w="12700">
            <a:solidFill>
              <a:srgbClr val="E5E7EB"/>
            </a:solidFill>
          </a:ln>
          <a:effectLst>
            <a:outerShdw blurRad="25400" dir="5400000" dist="12700" rotWithShape="0">
              <a:srgbClr val="000000">
                <a:alpha val="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Rounded Rectangle 7"/>
          <p:cNvSpPr/>
          <p:nvPr/>
        </p:nvSpPr>
        <p:spPr>
          <a:xfrm>
            <a:off x="8851900" y="6146800"/>
            <a:ext cx="609600" cy="609600"/>
          </a:xfrm>
          <a:prstGeom prst="roundRect">
            <a:avLst>
              <a:gd name="adj" fmla="val 5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9055100" y="6299200"/>
            <a:ext cx="241300" cy="304800"/>
          </a:xfrm>
          <a:prstGeom prst="rect">
            <a:avLst/>
          </a:prstGeom>
          <a:noFill/>
        </p:spPr>
        <p:txBody>
          <a:bodyPr wrap="square" lIns="0" rIns="0" tIns="0" bIns="0">
            <a:spAutoFit/>
          </a:bodyPr>
          <a:lstStyle/>
          <a:p>
            <a:pPr algn="l">
              <a:defRPr i="0" sz="1600" b="1">
                <a:solidFill>
                  <a:srgbClr val="FFFFFF"/>
                </a:solidFill>
                <a:latin typeface="Inter"/>
              </a:defRPr>
            </a:pPr>
            <a:r>
              <a:rPr i="0" sz="1600" b="1">
                <a:solidFill>
                  <a:srgbClr val="FFFFFF"/>
                </a:solidFill>
                <a:latin typeface="Inter"/>
              </a:rPr>
              <a:t>JS</a:t>
            </a:r>
          </a:p>
        </p:txBody>
      </p:sp>
      <p:sp>
        <p:nvSpPr>
          <p:cNvPr id="10" name="TextBox 9"/>
          <p:cNvSpPr txBox="1"/>
          <p:nvPr/>
        </p:nvSpPr>
        <p:spPr>
          <a:xfrm>
            <a:off x="9664700" y="6121400"/>
            <a:ext cx="12700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John Smith</a:t>
            </a:r>
          </a:p>
        </p:txBody>
      </p:sp>
      <p:sp>
        <p:nvSpPr>
          <p:cNvPr id="11" name="TextBox 10"/>
          <p:cNvSpPr txBox="1"/>
          <p:nvPr/>
        </p:nvSpPr>
        <p:spPr>
          <a:xfrm>
            <a:off x="9664700" y="6477000"/>
            <a:ext cx="1270000" cy="3048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2026-01-04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f30d074-17ab-4bb2-a365-246fa197bf49.png"/>
          <p:cNvPicPr>
            <a:picLocks noChangeAspect="1"/>
          </p:cNvPicPr>
          <p:nvPr/>
        </p:nvPicPr>
        <p:blipFill>
          <a:blip r:embed="rId3"/>
          <a:stretch>
            <a:fillRect/>
          </a:stretch>
        </p:blipFill>
        <p:spPr>
          <a:xfrm>
            <a:off x="0" y="0"/>
            <a:ext cx="1625600" cy="9144000"/>
          </a:xfrm>
          <a:prstGeom prst="rect">
            <a:avLst/>
          </a:prstGeom>
        </p:spPr>
      </p:pic>
      <p:pic>
        <p:nvPicPr>
          <p:cNvPr id="3" name="Picture 2" descr="101d7b1f-c29f-4fff-9c56-87eb6f68fea7.png"/>
          <p:cNvPicPr>
            <a:picLocks noChangeAspect="1"/>
          </p:cNvPicPr>
          <p:nvPr/>
        </p:nvPicPr>
        <p:blipFill>
          <a:blip r:embed="rId4"/>
          <a:stretch>
            <a:fillRect/>
          </a:stretch>
        </p:blipFill>
        <p:spPr>
          <a:xfrm>
            <a:off x="0" y="7518400"/>
            <a:ext cx="2438400" cy="1625600"/>
          </a:xfrm>
          <a:prstGeom prst="rect">
            <a:avLst/>
          </a:prstGeom>
        </p:spPr>
      </p:pic>
      <p:sp>
        <p:nvSpPr>
          <p:cNvPr id="4" name="TextBox 3"/>
          <p:cNvSpPr txBox="1"/>
          <p:nvPr/>
        </p:nvSpPr>
        <p:spPr>
          <a:xfrm>
            <a:off x="1016000" y="609600"/>
            <a:ext cx="8966200" cy="1828800"/>
          </a:xfrm>
          <a:prstGeom prst="rect">
            <a:avLst/>
          </a:prstGeom>
          <a:noFill/>
        </p:spPr>
        <p:txBody>
          <a:bodyPr wrap="square" lIns="0" rIns="0" tIns="0" bIns="0">
            <a:spAutoFit/>
          </a:bodyPr>
          <a:lstStyle/>
          <a:p>
            <a:pPr algn="l">
              <a:lnSpc>
                <a:spcPct val="70000"/>
              </a:lnSpc>
              <a:defRPr i="0" sz="7200" b="1">
                <a:solidFill>
                  <a:srgbClr val="111827"/>
                </a:solidFill>
                <a:latin typeface="Inter"/>
              </a:defRPr>
            </a:pPr>
            <a:r>
              <a:rPr i="0" sz="7200" b="1">
                <a:solidFill>
                  <a:srgbClr val="111827"/>
                </a:solidFill>
                <a:latin typeface="Inter"/>
              </a:rPr>
              <a:t>AI in Medical Imaging Diagnosis</a:t>
            </a:r>
          </a:p>
        </p:txBody>
      </p:sp>
      <p:sp>
        <p:nvSpPr>
          <p:cNvPr id="5" name="Rounded Rectangle 4"/>
          <p:cNvSpPr/>
          <p:nvPr/>
        </p:nvSpPr>
        <p:spPr>
          <a:xfrm>
            <a:off x="1219200" y="4787900"/>
            <a:ext cx="609600" cy="609600"/>
          </a:xfrm>
          <a:prstGeom prst="roundRect">
            <a:avLst>
              <a:gd name="adj" fmla="val 5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6" name="Picture 5" descr="a61b4e57-5071-43a3-83c4-1430f4bb3c37.png"/>
          <p:cNvPicPr>
            <a:picLocks noChangeAspect="1"/>
          </p:cNvPicPr>
          <p:nvPr/>
        </p:nvPicPr>
        <p:blipFill>
          <a:blip r:embed="rId5"/>
          <a:stretch>
            <a:fillRect/>
          </a:stretch>
        </p:blipFill>
        <p:spPr>
          <a:xfrm>
            <a:off x="1371600" y="4940300"/>
            <a:ext cx="304800" cy="304800"/>
          </a:xfrm>
          <a:prstGeom prst="rect">
            <a:avLst/>
          </a:prstGeom>
        </p:spPr>
      </p:pic>
      <p:sp>
        <p:nvSpPr>
          <p:cNvPr id="7" name="TextBox 6"/>
          <p:cNvSpPr txBox="1"/>
          <p:nvPr/>
        </p:nvSpPr>
        <p:spPr>
          <a:xfrm>
            <a:off x="2032000" y="4787900"/>
            <a:ext cx="77470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CNNs Match Radiologist Accuracy</a:t>
            </a:r>
          </a:p>
        </p:txBody>
      </p:sp>
      <p:sp>
        <p:nvSpPr>
          <p:cNvPr id="8" name="Rounded Rectangle 7"/>
          <p:cNvSpPr/>
          <p:nvPr/>
        </p:nvSpPr>
        <p:spPr>
          <a:xfrm>
            <a:off x="1219200" y="6108700"/>
            <a:ext cx="609600" cy="609600"/>
          </a:xfrm>
          <a:prstGeom prst="roundRect">
            <a:avLst>
              <a:gd name="adj" fmla="val 5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9" name="Picture 8" descr="0a50fdca-3ad5-4578-968d-d27d5c89fe2a.png"/>
          <p:cNvPicPr>
            <a:picLocks noChangeAspect="1"/>
          </p:cNvPicPr>
          <p:nvPr/>
        </p:nvPicPr>
        <p:blipFill>
          <a:blip r:embed="rId6"/>
          <a:stretch>
            <a:fillRect/>
          </a:stretch>
        </p:blipFill>
        <p:spPr>
          <a:xfrm>
            <a:off x="1371600" y="6261100"/>
            <a:ext cx="304800" cy="304800"/>
          </a:xfrm>
          <a:prstGeom prst="rect">
            <a:avLst/>
          </a:prstGeom>
        </p:spPr>
      </p:pic>
      <p:sp>
        <p:nvSpPr>
          <p:cNvPr id="10" name="TextBox 9"/>
          <p:cNvSpPr txBox="1"/>
          <p:nvPr/>
        </p:nvSpPr>
        <p:spPr>
          <a:xfrm>
            <a:off x="2032000" y="6108700"/>
            <a:ext cx="77470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Abnormality Detection in Scans</a:t>
            </a:r>
          </a:p>
        </p:txBody>
      </p:sp>
      <p:sp>
        <p:nvSpPr>
          <p:cNvPr id="11" name="TextBox 10"/>
          <p:cNvSpPr txBox="1"/>
          <p:nvPr/>
        </p:nvSpPr>
        <p:spPr>
          <a:xfrm>
            <a:off x="2032000" y="6515100"/>
            <a:ext cx="7747000" cy="292100"/>
          </a:xfrm>
          <a:prstGeom prst="rect">
            <a:avLst/>
          </a:prstGeom>
          <a:noFill/>
        </p:spPr>
        <p:txBody>
          <a:bodyPr wrap="square" lIns="0" rIns="0" tIns="0" bIns="0">
            <a:spAutoFit/>
          </a:bodyPr>
          <a:lstStyle/>
          <a:p>
            <a:pPr algn="l">
              <a:defRPr i="0" sz="1400" b="0">
                <a:solidFill>
                  <a:srgbClr val="4B5563"/>
                </a:solidFill>
                <a:latin typeface="Inter"/>
              </a:defRPr>
            </a:pPr>
            <a:r>
              <a:rPr i="0" sz="1400" b="0">
                <a:solidFill>
                  <a:srgbClr val="4B5563"/>
                </a:solidFill>
                <a:latin typeface="Inter"/>
              </a:rPr>
              <a:t>Used in X-ray, CT, and MRI analysis for faster diagnosis.</a:t>
            </a:r>
          </a:p>
        </p:txBody>
      </p:sp>
      <p:pic>
        <p:nvPicPr>
          <p:cNvPr id="12" name="Picture 11" descr="3d341fa9-a725-4603-9d07-4ec123f07591.png"/>
          <p:cNvPicPr>
            <a:picLocks noChangeAspect="1"/>
          </p:cNvPicPr>
          <p:nvPr/>
        </p:nvPicPr>
        <p:blipFill>
          <a:blip r:embed="rId7"/>
          <a:stretch>
            <a:fillRect/>
          </a:stretch>
        </p:blipFill>
        <p:spPr>
          <a:xfrm>
            <a:off x="14427200" y="1016000"/>
            <a:ext cx="406400" cy="406400"/>
          </a:xfrm>
          <a:prstGeom prst="rect">
            <a:avLst/>
          </a:prstGeom>
        </p:spPr>
      </p:pic>
      <p:pic>
        <p:nvPicPr>
          <p:cNvPr id="13" name="Picture 12" descr="e439a7cd-cdb2-4383-a4f3-c2a4159a8cb6.png"/>
          <p:cNvPicPr>
            <a:picLocks noChangeAspect="1"/>
          </p:cNvPicPr>
          <p:nvPr/>
        </p:nvPicPr>
        <p:blipFill>
          <a:blip r:embed="rId8"/>
          <a:stretch>
            <a:fillRect/>
          </a:stretch>
        </p:blipFill>
        <p:spPr>
          <a:xfrm>
            <a:off x="10769600" y="1422400"/>
            <a:ext cx="1016000" cy="254000"/>
          </a:xfrm>
          <a:prstGeom prst="rect">
            <a:avLst/>
          </a:prstGeom>
        </p:spPr>
      </p:pic>
      <p:sp>
        <p:nvSpPr>
          <p:cNvPr id="14" name="Rounded Rectangle 13"/>
          <p:cNvSpPr/>
          <p:nvPr/>
        </p:nvSpPr>
        <p:spPr>
          <a:xfrm>
            <a:off x="10363200" y="2641600"/>
            <a:ext cx="48768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5" name="Picture 14" descr="0e57a3f5-6f56-4f99-b806-f1daa2fef2fe.png"/>
          <p:cNvPicPr>
            <a:picLocks noChangeAspect="1"/>
          </p:cNvPicPr>
          <p:nvPr/>
        </p:nvPicPr>
        <p:blipFill>
          <a:blip r:embed="rId9"/>
          <a:stretch>
            <a:fillRect/>
          </a:stretch>
        </p:blipFill>
        <p:spPr>
          <a:xfrm>
            <a:off x="10363200" y="2641600"/>
            <a:ext cx="4876800" cy="4064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AI in Medical Imaging Diagnosis (3/8)</a:t>
            </a:r>
          </a:p>
        </p:txBody>
      </p:sp>
      <p:pic>
        <p:nvPicPr>
          <p:cNvPr id="3" name="Picture 2" descr="426ccdc6-2956-4db9-8103-f4cb02d38cb1.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c0e677ea-cb7f-45c7-950d-6b13a8ed1f47.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2578100"/>
            <a:ext cx="6731000" cy="11176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AI models in medical imaging are improving diagnostic accuracy and efficiency, with proven results in large-scale studies and live healthcare settings</a:t>
            </a:r>
          </a:p>
        </p:txBody>
      </p:sp>
      <p:sp>
        <p:nvSpPr>
          <p:cNvPr id="6" name="Rounded Rectangle 5"/>
          <p:cNvSpPr/>
          <p:nvPr/>
        </p:nvSpPr>
        <p:spPr>
          <a:xfrm>
            <a:off x="8534400" y="41021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5e2f33ec-4335-4085-bef7-5354e4522c03.png"/>
          <p:cNvPicPr>
            <a:picLocks noChangeAspect="1"/>
          </p:cNvPicPr>
          <p:nvPr/>
        </p:nvPicPr>
        <p:blipFill>
          <a:blip r:embed="rId5"/>
          <a:stretch>
            <a:fillRect/>
          </a:stretch>
        </p:blipFill>
        <p:spPr>
          <a:xfrm>
            <a:off x="8686800" y="4267200"/>
            <a:ext cx="304800" cy="304800"/>
          </a:xfrm>
          <a:prstGeom prst="rect">
            <a:avLst/>
          </a:prstGeom>
        </p:spPr>
      </p:pic>
      <p:sp>
        <p:nvSpPr>
          <p:cNvPr id="8" name="TextBox 7"/>
          <p:cNvSpPr txBox="1"/>
          <p:nvPr/>
        </p:nvSpPr>
        <p:spPr>
          <a:xfrm>
            <a:off x="9347200" y="41021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Google Health Study Results</a:t>
            </a:r>
          </a:p>
        </p:txBody>
      </p:sp>
      <p:sp>
        <p:nvSpPr>
          <p:cNvPr id="9" name="Rounded Rectangle 8"/>
          <p:cNvSpPr/>
          <p:nvPr/>
        </p:nvSpPr>
        <p:spPr>
          <a:xfrm>
            <a:off x="9347200" y="45593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7371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Reduced false positives by 5.7% and false negatives by 9.4% in breast cancer screening.</a:t>
            </a:r>
          </a:p>
        </p:txBody>
      </p:sp>
      <p:sp>
        <p:nvSpPr>
          <p:cNvPr id="11" name="Rounded Rectangle 10"/>
          <p:cNvSpPr/>
          <p:nvPr/>
        </p:nvSpPr>
        <p:spPr>
          <a:xfrm>
            <a:off x="8534400" y="57023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0a50fdca-3ad5-4578-968d-d27d5c89fe2a.png"/>
          <p:cNvPicPr>
            <a:picLocks noChangeAspect="1"/>
          </p:cNvPicPr>
          <p:nvPr/>
        </p:nvPicPr>
        <p:blipFill>
          <a:blip r:embed="rId6"/>
          <a:stretch>
            <a:fillRect/>
          </a:stretch>
        </p:blipFill>
        <p:spPr>
          <a:xfrm>
            <a:off x="8686800" y="5867400"/>
            <a:ext cx="304800" cy="304800"/>
          </a:xfrm>
          <a:prstGeom prst="rect">
            <a:avLst/>
          </a:prstGeom>
        </p:spPr>
      </p:pic>
      <p:sp>
        <p:nvSpPr>
          <p:cNvPr id="13" name="TextBox 12"/>
          <p:cNvSpPr txBox="1"/>
          <p:nvPr/>
        </p:nvSpPr>
        <p:spPr>
          <a:xfrm>
            <a:off x="9347200" y="57023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Enhanced Detection Accuracy</a:t>
            </a:r>
          </a:p>
        </p:txBody>
      </p:sp>
      <p:sp>
        <p:nvSpPr>
          <p:cNvPr id="14" name="Rounded Rectangle 13"/>
          <p:cNvSpPr/>
          <p:nvPr/>
        </p:nvSpPr>
        <p:spPr>
          <a:xfrm>
            <a:off x="9347200" y="61595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6337300"/>
            <a:ext cx="5918200" cy="3302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AI tools improve detection accuracy and reduce radiologist workload.</a:t>
            </a:r>
          </a:p>
        </p:txBody>
      </p:sp>
      <p:sp>
        <p:nvSpPr>
          <p:cNvPr id="16" name="Rounded Rectangle 15"/>
          <p:cNvSpPr/>
          <p:nvPr/>
        </p:nvSpPr>
        <p:spPr>
          <a:xfrm>
            <a:off x="8534400" y="69723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b29b3b6a-abc8-4007-9c02-6b9b2a2de6a0.png"/>
          <p:cNvPicPr>
            <a:picLocks noChangeAspect="1"/>
          </p:cNvPicPr>
          <p:nvPr/>
        </p:nvPicPr>
        <p:blipFill>
          <a:blip r:embed="rId7"/>
          <a:stretch>
            <a:fillRect/>
          </a:stretch>
        </p:blipFill>
        <p:spPr>
          <a:xfrm>
            <a:off x="8686800" y="7137400"/>
            <a:ext cx="304800" cy="304800"/>
          </a:xfrm>
          <a:prstGeom prst="rect">
            <a:avLst/>
          </a:prstGeom>
        </p:spPr>
      </p:pic>
      <p:sp>
        <p:nvSpPr>
          <p:cNvPr id="18" name="TextBox 17"/>
          <p:cNvSpPr txBox="1"/>
          <p:nvPr/>
        </p:nvSpPr>
        <p:spPr>
          <a:xfrm>
            <a:off x="9347200" y="69723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Real-World Implementation</a:t>
            </a:r>
          </a:p>
        </p:txBody>
      </p:sp>
      <p:sp>
        <p:nvSpPr>
          <p:cNvPr id="19" name="Rounded Rectangle 18"/>
          <p:cNvSpPr/>
          <p:nvPr/>
        </p:nvSpPr>
        <p:spPr>
          <a:xfrm>
            <a:off x="9347200" y="74295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607300"/>
            <a:ext cx="5918200" cy="3302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Deployed in hospitals for real-time prioritization of critical cases.</a:t>
            </a:r>
          </a:p>
        </p:txBody>
      </p:sp>
      <p:sp>
        <p:nvSpPr>
          <p:cNvPr id="21" name="Rounded Rectangle 20"/>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296b3818-ec1b-4980-856b-8a2de8f98928.png"/>
          <p:cNvPicPr>
            <a:picLocks noChangeAspect="1"/>
          </p:cNvPicPr>
          <p:nvPr/>
        </p:nvPicPr>
        <p:blipFill>
          <a:blip r:embed="rId8"/>
          <a:stretch>
            <a:fillRect/>
          </a:stretch>
        </p:blipFill>
        <p:spPr>
          <a:xfrm>
            <a:off x="1524000" y="3225800"/>
            <a:ext cx="5689600" cy="4064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abeac02-3bd4-43dc-8dcb-e0908a8bbd6c.png"/>
          <p:cNvPicPr>
            <a:picLocks noChangeAspect="1"/>
          </p:cNvPicPr>
          <p:nvPr/>
        </p:nvPicPr>
        <p:blipFill>
          <a:blip r:embed="rId3"/>
          <a:stretch>
            <a:fillRect/>
          </a:stretch>
        </p:blipFill>
        <p:spPr>
          <a:xfrm>
            <a:off x="0" y="0"/>
            <a:ext cx="3251200" cy="9144000"/>
          </a:xfrm>
          <a:prstGeom prst="rect">
            <a:avLst/>
          </a:prstGeom>
        </p:spPr>
      </p:pic>
      <p:pic>
        <p:nvPicPr>
          <p:cNvPr id="3" name="Picture 2" descr="cabeac02-3bd4-43dc-8dcb-e0908a8bbd6c.png"/>
          <p:cNvPicPr>
            <a:picLocks noChangeAspect="1"/>
          </p:cNvPicPr>
          <p:nvPr/>
        </p:nvPicPr>
        <p:blipFill>
          <a:blip r:embed="rId3"/>
          <a:stretch>
            <a:fillRect/>
          </a:stretch>
        </p:blipFill>
        <p:spPr>
          <a:xfrm>
            <a:off x="13004800" y="0"/>
            <a:ext cx="3251200" cy="9144000"/>
          </a:xfrm>
          <a:prstGeom prst="rect">
            <a:avLst/>
          </a:prstGeom>
        </p:spPr>
      </p:pic>
      <p:sp>
        <p:nvSpPr>
          <p:cNvPr id="4" name="TextBox 3"/>
          <p:cNvSpPr txBox="1"/>
          <p:nvPr/>
        </p:nvSpPr>
        <p:spPr>
          <a:xfrm>
            <a:off x="1016000" y="2362200"/>
            <a:ext cx="14249400" cy="1524000"/>
          </a:xfrm>
          <a:prstGeom prst="rect">
            <a:avLst/>
          </a:prstGeom>
          <a:noFill/>
        </p:spPr>
        <p:txBody>
          <a:bodyPr wrap="square" lIns="0" rIns="0" tIns="0" bIns="0">
            <a:spAutoFit/>
          </a:bodyPr>
          <a:lstStyle/>
          <a:p>
            <a:pPr algn="ctr">
              <a:lnSpc>
                <a:spcPct val="70000"/>
              </a:lnSpc>
              <a:defRPr i="0" sz="6000" b="1">
                <a:solidFill>
                  <a:srgbClr val="111827"/>
                </a:solidFill>
                <a:latin typeface="Inter"/>
              </a:defRPr>
            </a:pPr>
            <a:r>
              <a:rPr i="0" sz="6000" b="1">
                <a:solidFill>
                  <a:srgbClr val="111827"/>
                </a:solidFill>
                <a:latin typeface="Inter"/>
              </a:rPr>
              <a:t>AI in Drug Discovery: Accelerating Development Timelines</a:t>
            </a:r>
          </a:p>
        </p:txBody>
      </p:sp>
      <p:sp>
        <p:nvSpPr>
          <p:cNvPr id="5" name="TextBox 4"/>
          <p:cNvSpPr txBox="1"/>
          <p:nvPr/>
        </p:nvSpPr>
        <p:spPr>
          <a:xfrm>
            <a:off x="2743200" y="4495800"/>
            <a:ext cx="5207000" cy="254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Traditional Cost</a:t>
            </a:r>
          </a:p>
        </p:txBody>
      </p:sp>
      <p:sp>
        <p:nvSpPr>
          <p:cNvPr id="6" name="TextBox 5"/>
          <p:cNvSpPr txBox="1"/>
          <p:nvPr/>
        </p:nvSpPr>
        <p:spPr>
          <a:xfrm>
            <a:off x="2743200" y="4953000"/>
            <a:ext cx="5207000" cy="762000"/>
          </a:xfrm>
          <a:prstGeom prst="rect">
            <a:avLst/>
          </a:prstGeom>
          <a:noFill/>
        </p:spPr>
        <p:txBody>
          <a:bodyPr wrap="square" lIns="0" rIns="0" tIns="0" bIns="0">
            <a:spAutoFit/>
          </a:bodyPr>
          <a:lstStyle/>
          <a:p>
            <a:pPr algn="ctr">
              <a:lnSpc>
                <a:spcPct val="70000"/>
              </a:lnSpc>
              <a:defRPr i="0" sz="6000" b="1">
                <a:solidFill>
                  <a:srgbClr val="9333EA"/>
                </a:solidFill>
                <a:latin typeface="Inter"/>
              </a:defRPr>
            </a:pPr>
            <a:r>
              <a:rPr i="0" sz="6000" b="1">
                <a:solidFill>
                  <a:srgbClr val="9333EA"/>
                </a:solidFill>
                <a:latin typeface="Inter"/>
              </a:rPr>
              <a:t>$2.6B</a:t>
            </a:r>
          </a:p>
        </p:txBody>
      </p:sp>
      <p:sp>
        <p:nvSpPr>
          <p:cNvPr id="7" name="Rounded Rectangle 6"/>
          <p:cNvSpPr/>
          <p:nvPr/>
        </p:nvSpPr>
        <p:spPr>
          <a:xfrm>
            <a:off x="2743200" y="5918200"/>
            <a:ext cx="5181600" cy="762000"/>
          </a:xfrm>
          <a:prstGeom prst="roundRect">
            <a:avLst>
              <a:gd name="adj" fmla="val 13333"/>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2997200" y="6172200"/>
            <a:ext cx="4699000" cy="254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Average cost of developing a new drug using traditional methods.</a:t>
            </a:r>
          </a:p>
        </p:txBody>
      </p:sp>
      <p:sp>
        <p:nvSpPr>
          <p:cNvPr id="9" name="TextBox 8"/>
          <p:cNvSpPr txBox="1"/>
          <p:nvPr/>
        </p:nvSpPr>
        <p:spPr>
          <a:xfrm>
            <a:off x="8445500" y="4495800"/>
            <a:ext cx="4978400" cy="254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Discovery Time with AI</a:t>
            </a:r>
          </a:p>
        </p:txBody>
      </p:sp>
      <p:sp>
        <p:nvSpPr>
          <p:cNvPr id="10" name="TextBox 9"/>
          <p:cNvSpPr txBox="1"/>
          <p:nvPr/>
        </p:nvSpPr>
        <p:spPr>
          <a:xfrm>
            <a:off x="8445500" y="4953000"/>
            <a:ext cx="4978400" cy="762000"/>
          </a:xfrm>
          <a:prstGeom prst="rect">
            <a:avLst/>
          </a:prstGeom>
          <a:noFill/>
        </p:spPr>
        <p:txBody>
          <a:bodyPr wrap="square" lIns="0" rIns="0" tIns="0" bIns="0">
            <a:spAutoFit/>
          </a:bodyPr>
          <a:lstStyle/>
          <a:p>
            <a:pPr algn="ctr">
              <a:lnSpc>
                <a:spcPct val="70000"/>
              </a:lnSpc>
              <a:defRPr i="0" sz="6000" b="1">
                <a:solidFill>
                  <a:srgbClr val="9333EA"/>
                </a:solidFill>
                <a:latin typeface="Inter"/>
              </a:defRPr>
            </a:pPr>
            <a:r>
              <a:rPr i="0" sz="6000" b="1">
                <a:solidFill>
                  <a:srgbClr val="9333EA"/>
                </a:solidFill>
                <a:latin typeface="Inter"/>
              </a:rPr>
              <a:t>12-18mo</a:t>
            </a:r>
          </a:p>
        </p:txBody>
      </p:sp>
      <p:sp>
        <p:nvSpPr>
          <p:cNvPr id="11" name="Rounded Rectangle 10"/>
          <p:cNvSpPr/>
          <p:nvPr/>
        </p:nvSpPr>
        <p:spPr>
          <a:xfrm>
            <a:off x="8445500" y="5918200"/>
            <a:ext cx="4953000" cy="762000"/>
          </a:xfrm>
          <a:prstGeom prst="roundRect">
            <a:avLst>
              <a:gd name="adj" fmla="val 13333"/>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8699500" y="6172200"/>
            <a:ext cx="4470400" cy="254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Reduction in early discovery time enabled by AI technologies.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f30d074-17ab-4bb2-a365-246fa197bf49.png"/>
          <p:cNvPicPr>
            <a:picLocks noChangeAspect="1"/>
          </p:cNvPicPr>
          <p:nvPr/>
        </p:nvPicPr>
        <p:blipFill>
          <a:blip r:embed="rId3"/>
          <a:stretch>
            <a:fillRect/>
          </a:stretch>
        </p:blipFill>
        <p:spPr>
          <a:xfrm>
            <a:off x="0" y="0"/>
            <a:ext cx="1625600" cy="9144000"/>
          </a:xfrm>
          <a:prstGeom prst="rect">
            <a:avLst/>
          </a:prstGeom>
        </p:spPr>
      </p:pic>
      <p:pic>
        <p:nvPicPr>
          <p:cNvPr id="3" name="Picture 2" descr="101d7b1f-c29f-4fff-9c56-87eb6f68fea7.png"/>
          <p:cNvPicPr>
            <a:picLocks noChangeAspect="1"/>
          </p:cNvPicPr>
          <p:nvPr/>
        </p:nvPicPr>
        <p:blipFill>
          <a:blip r:embed="rId4"/>
          <a:stretch>
            <a:fillRect/>
          </a:stretch>
        </p:blipFill>
        <p:spPr>
          <a:xfrm>
            <a:off x="0" y="7518400"/>
            <a:ext cx="2438400" cy="1625600"/>
          </a:xfrm>
          <a:prstGeom prst="rect">
            <a:avLst/>
          </a:prstGeom>
        </p:spPr>
      </p:pic>
      <p:sp>
        <p:nvSpPr>
          <p:cNvPr id="4" name="TextBox 3"/>
          <p:cNvSpPr txBox="1"/>
          <p:nvPr/>
        </p:nvSpPr>
        <p:spPr>
          <a:xfrm>
            <a:off x="1016000" y="609600"/>
            <a:ext cx="8966200" cy="1828800"/>
          </a:xfrm>
          <a:prstGeom prst="rect">
            <a:avLst/>
          </a:prstGeom>
          <a:noFill/>
        </p:spPr>
        <p:txBody>
          <a:bodyPr wrap="square" lIns="0" rIns="0" tIns="0" bIns="0">
            <a:spAutoFit/>
          </a:bodyPr>
          <a:lstStyle/>
          <a:p>
            <a:pPr algn="l">
              <a:lnSpc>
                <a:spcPct val="70000"/>
              </a:lnSpc>
              <a:defRPr i="0" sz="7200" b="1">
                <a:solidFill>
                  <a:srgbClr val="111827"/>
                </a:solidFill>
                <a:latin typeface="Inter"/>
              </a:defRPr>
            </a:pPr>
            <a:r>
              <a:rPr i="0" sz="7200" b="1">
                <a:solidFill>
                  <a:srgbClr val="111827"/>
                </a:solidFill>
                <a:latin typeface="Inter"/>
              </a:rPr>
              <a:t>AI Accelerating Drug Discovery</a:t>
            </a:r>
          </a:p>
        </p:txBody>
      </p:sp>
      <p:sp>
        <p:nvSpPr>
          <p:cNvPr id="5" name="Rounded Rectangle 4"/>
          <p:cNvSpPr/>
          <p:nvPr/>
        </p:nvSpPr>
        <p:spPr>
          <a:xfrm>
            <a:off x="1219200" y="4737100"/>
            <a:ext cx="609600" cy="609600"/>
          </a:xfrm>
          <a:prstGeom prst="roundRect">
            <a:avLst>
              <a:gd name="adj" fmla="val 5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6" name="Picture 5" descr="2630d42e-053b-4a73-b32e-3b831a1a7e75.png"/>
          <p:cNvPicPr>
            <a:picLocks noChangeAspect="1"/>
          </p:cNvPicPr>
          <p:nvPr/>
        </p:nvPicPr>
        <p:blipFill>
          <a:blip r:embed="rId5"/>
          <a:stretch>
            <a:fillRect/>
          </a:stretch>
        </p:blipFill>
        <p:spPr>
          <a:xfrm>
            <a:off x="1371600" y="4902200"/>
            <a:ext cx="304800" cy="304800"/>
          </a:xfrm>
          <a:prstGeom prst="rect">
            <a:avLst/>
          </a:prstGeom>
        </p:spPr>
      </p:pic>
      <p:sp>
        <p:nvSpPr>
          <p:cNvPr id="7" name="TextBox 6"/>
          <p:cNvSpPr txBox="1"/>
          <p:nvPr/>
        </p:nvSpPr>
        <p:spPr>
          <a:xfrm>
            <a:off x="2032000" y="4737100"/>
            <a:ext cx="77470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BenevolentAI ALS Breakthrough</a:t>
            </a:r>
          </a:p>
        </p:txBody>
      </p:sp>
      <p:sp>
        <p:nvSpPr>
          <p:cNvPr id="8" name="TextBox 7"/>
          <p:cNvSpPr txBox="1"/>
          <p:nvPr/>
        </p:nvSpPr>
        <p:spPr>
          <a:xfrm>
            <a:off x="2032000" y="5143500"/>
            <a:ext cx="7747000" cy="292100"/>
          </a:xfrm>
          <a:prstGeom prst="rect">
            <a:avLst/>
          </a:prstGeom>
          <a:noFill/>
        </p:spPr>
        <p:txBody>
          <a:bodyPr wrap="square" lIns="0" rIns="0" tIns="0" bIns="0">
            <a:spAutoFit/>
          </a:bodyPr>
          <a:lstStyle/>
          <a:p>
            <a:pPr algn="l">
              <a:defRPr i="0" sz="1400" b="0">
                <a:solidFill>
                  <a:srgbClr val="4B5563"/>
                </a:solidFill>
                <a:latin typeface="Inter"/>
              </a:defRPr>
            </a:pPr>
            <a:r>
              <a:rPr i="0" sz="1400" b="0">
                <a:solidFill>
                  <a:srgbClr val="4B5563"/>
                </a:solidFill>
                <a:latin typeface="Inter"/>
              </a:rPr>
              <a:t>Identified a promising ALS treatment using AI-driven target discovery, now in clinical trials as of 2024.</a:t>
            </a:r>
          </a:p>
        </p:txBody>
      </p:sp>
      <p:sp>
        <p:nvSpPr>
          <p:cNvPr id="9" name="Rounded Rectangle 8"/>
          <p:cNvSpPr/>
          <p:nvPr/>
        </p:nvSpPr>
        <p:spPr>
          <a:xfrm>
            <a:off x="1219200" y="6146800"/>
            <a:ext cx="609600" cy="609600"/>
          </a:xfrm>
          <a:prstGeom prst="roundRect">
            <a:avLst>
              <a:gd name="adj" fmla="val 5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0" name="Picture 9" descr="2e8babf6-4a7f-4774-ba18-f950283ec5a8.png"/>
          <p:cNvPicPr>
            <a:picLocks noChangeAspect="1"/>
          </p:cNvPicPr>
          <p:nvPr/>
        </p:nvPicPr>
        <p:blipFill>
          <a:blip r:embed="rId6"/>
          <a:stretch>
            <a:fillRect/>
          </a:stretch>
        </p:blipFill>
        <p:spPr>
          <a:xfrm>
            <a:off x="1371600" y="6311900"/>
            <a:ext cx="304800" cy="304800"/>
          </a:xfrm>
          <a:prstGeom prst="rect">
            <a:avLst/>
          </a:prstGeom>
        </p:spPr>
      </p:pic>
      <p:sp>
        <p:nvSpPr>
          <p:cNvPr id="11" name="TextBox 10"/>
          <p:cNvSpPr txBox="1"/>
          <p:nvPr/>
        </p:nvSpPr>
        <p:spPr>
          <a:xfrm>
            <a:off x="2032000" y="6146800"/>
            <a:ext cx="77470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150+ AI Drug Candidates in Pipeline</a:t>
            </a:r>
          </a:p>
        </p:txBody>
      </p:sp>
      <p:sp>
        <p:nvSpPr>
          <p:cNvPr id="12" name="TextBox 11"/>
          <p:cNvSpPr txBox="1"/>
          <p:nvPr/>
        </p:nvSpPr>
        <p:spPr>
          <a:xfrm>
            <a:off x="2032000" y="6553200"/>
            <a:ext cx="7747000" cy="292100"/>
          </a:xfrm>
          <a:prstGeom prst="rect">
            <a:avLst/>
          </a:prstGeom>
          <a:noFill/>
        </p:spPr>
        <p:txBody>
          <a:bodyPr wrap="square" lIns="0" rIns="0" tIns="0" bIns="0">
            <a:spAutoFit/>
          </a:bodyPr>
          <a:lstStyle/>
          <a:p>
            <a:pPr algn="l">
              <a:defRPr i="0" sz="1400" b="0">
                <a:solidFill>
                  <a:srgbClr val="4B5563"/>
                </a:solidFill>
                <a:latin typeface="Inter"/>
              </a:defRPr>
            </a:pPr>
            <a:r>
              <a:rPr i="0" sz="1400" b="0">
                <a:solidFill>
                  <a:srgbClr val="4B5563"/>
                </a:solidFill>
                <a:latin typeface="Inter"/>
              </a:rPr>
              <a:t>More than 150 AI-designed or AI-optimized drug candidates are in preclinical or clinical stages globally.</a:t>
            </a:r>
          </a:p>
        </p:txBody>
      </p:sp>
      <p:pic>
        <p:nvPicPr>
          <p:cNvPr id="13" name="Picture 12" descr="3d341fa9-a725-4603-9d07-4ec123f07591.png"/>
          <p:cNvPicPr>
            <a:picLocks noChangeAspect="1"/>
          </p:cNvPicPr>
          <p:nvPr/>
        </p:nvPicPr>
        <p:blipFill>
          <a:blip r:embed="rId7"/>
          <a:stretch>
            <a:fillRect/>
          </a:stretch>
        </p:blipFill>
        <p:spPr>
          <a:xfrm>
            <a:off x="14427200" y="1016000"/>
            <a:ext cx="406400" cy="406400"/>
          </a:xfrm>
          <a:prstGeom prst="rect">
            <a:avLst/>
          </a:prstGeom>
        </p:spPr>
      </p:pic>
      <p:pic>
        <p:nvPicPr>
          <p:cNvPr id="14" name="Picture 13" descr="e439a7cd-cdb2-4383-a4f3-c2a4159a8cb6.png"/>
          <p:cNvPicPr>
            <a:picLocks noChangeAspect="1"/>
          </p:cNvPicPr>
          <p:nvPr/>
        </p:nvPicPr>
        <p:blipFill>
          <a:blip r:embed="rId8"/>
          <a:stretch>
            <a:fillRect/>
          </a:stretch>
        </p:blipFill>
        <p:spPr>
          <a:xfrm>
            <a:off x="10769600" y="1422400"/>
            <a:ext cx="1016000" cy="254000"/>
          </a:xfrm>
          <a:prstGeom prst="rect">
            <a:avLst/>
          </a:prstGeom>
        </p:spPr>
      </p:pic>
      <p:sp>
        <p:nvSpPr>
          <p:cNvPr id="15" name="Rounded Rectangle 14"/>
          <p:cNvSpPr/>
          <p:nvPr/>
        </p:nvSpPr>
        <p:spPr>
          <a:xfrm>
            <a:off x="10363200" y="2641600"/>
            <a:ext cx="48768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6" name="Picture 15" descr="92f6c60a-5b94-40c4-a242-867d0ece8675.png"/>
          <p:cNvPicPr>
            <a:picLocks noChangeAspect="1"/>
          </p:cNvPicPr>
          <p:nvPr/>
        </p:nvPicPr>
        <p:blipFill>
          <a:blip r:embed="rId9"/>
          <a:stretch>
            <a:fillRect/>
          </a:stretch>
        </p:blipFill>
        <p:spPr>
          <a:xfrm>
            <a:off x="10363200" y="2641600"/>
            <a:ext cx="4876800" cy="4064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Personalized Treatment Plans Through AI</a:t>
            </a:r>
          </a:p>
        </p:txBody>
      </p:sp>
      <p:pic>
        <p:nvPicPr>
          <p:cNvPr id="3" name="Picture 2" descr="426ccdc6-2956-4db9-8103-f4cb02d38cb1.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c0e677ea-cb7f-45c7-950d-6b13a8ed1f47.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2413000"/>
            <a:ext cx="6731000" cy="11176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AI synthesizes diverse datasets including genomics and EHRs to create individualized treatment strategies, enhancing therapeutic precision and patient</a:t>
            </a:r>
          </a:p>
        </p:txBody>
      </p:sp>
      <p:sp>
        <p:nvSpPr>
          <p:cNvPr id="6" name="Rounded Rectangle 5"/>
          <p:cNvSpPr/>
          <p:nvPr/>
        </p:nvSpPr>
        <p:spPr>
          <a:xfrm>
            <a:off x="8534400" y="39370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3bfcb65c-cd36-4a29-ae60-e44018ab8b97.png"/>
          <p:cNvPicPr>
            <a:picLocks noChangeAspect="1"/>
          </p:cNvPicPr>
          <p:nvPr/>
        </p:nvPicPr>
        <p:blipFill>
          <a:blip r:embed="rId5"/>
          <a:stretch>
            <a:fillRect/>
          </a:stretch>
        </p:blipFill>
        <p:spPr>
          <a:xfrm>
            <a:off x="8686800" y="4102100"/>
            <a:ext cx="304800" cy="304800"/>
          </a:xfrm>
          <a:prstGeom prst="rect">
            <a:avLst/>
          </a:prstGeom>
        </p:spPr>
      </p:pic>
      <p:sp>
        <p:nvSpPr>
          <p:cNvPr id="8" name="TextBox 7"/>
          <p:cNvSpPr txBox="1"/>
          <p:nvPr/>
        </p:nvSpPr>
        <p:spPr>
          <a:xfrm>
            <a:off x="9347200" y="39370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Integrated Data Sources</a:t>
            </a:r>
          </a:p>
        </p:txBody>
      </p:sp>
      <p:sp>
        <p:nvSpPr>
          <p:cNvPr id="9" name="Rounded Rectangle 8"/>
          <p:cNvSpPr/>
          <p:nvPr/>
        </p:nvSpPr>
        <p:spPr>
          <a:xfrm>
            <a:off x="9347200" y="43942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5720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Combines genomic, clinical, and lifestyle data for precise therapy design.</a:t>
            </a:r>
          </a:p>
        </p:txBody>
      </p:sp>
      <p:sp>
        <p:nvSpPr>
          <p:cNvPr id="11" name="Rounded Rectangle 10"/>
          <p:cNvSpPr/>
          <p:nvPr/>
        </p:nvSpPr>
        <p:spPr>
          <a:xfrm>
            <a:off x="8534400" y="55372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52c0d9d1-8b6f-44b8-8747-88a85b889de4.png"/>
          <p:cNvPicPr>
            <a:picLocks noChangeAspect="1"/>
          </p:cNvPicPr>
          <p:nvPr/>
        </p:nvPicPr>
        <p:blipFill>
          <a:blip r:embed="rId6"/>
          <a:stretch>
            <a:fillRect/>
          </a:stretch>
        </p:blipFill>
        <p:spPr>
          <a:xfrm>
            <a:off x="8686800" y="5702300"/>
            <a:ext cx="304800" cy="304800"/>
          </a:xfrm>
          <a:prstGeom prst="rect">
            <a:avLst/>
          </a:prstGeom>
        </p:spPr>
      </p:pic>
      <p:sp>
        <p:nvSpPr>
          <p:cNvPr id="13" name="TextBox 12"/>
          <p:cNvSpPr txBox="1"/>
          <p:nvPr/>
        </p:nvSpPr>
        <p:spPr>
          <a:xfrm>
            <a:off x="9347200" y="55372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Evidence-Based Recommendations</a:t>
            </a:r>
          </a:p>
        </p:txBody>
      </p:sp>
      <p:sp>
        <p:nvSpPr>
          <p:cNvPr id="14" name="Rounded Rectangle 13"/>
          <p:cNvSpPr/>
          <p:nvPr/>
        </p:nvSpPr>
        <p:spPr>
          <a:xfrm>
            <a:off x="9347200" y="59944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61722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Watson analyzes 30M+ medical documents to match treatments with evidence.</a:t>
            </a:r>
          </a:p>
        </p:txBody>
      </p:sp>
      <p:sp>
        <p:nvSpPr>
          <p:cNvPr id="16" name="Rounded Rectangle 15"/>
          <p:cNvSpPr/>
          <p:nvPr/>
        </p:nvSpPr>
        <p:spPr>
          <a:xfrm>
            <a:off x="8534400" y="71374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80266c52-f351-4c40-9da2-905f9fd6e863.png"/>
          <p:cNvPicPr>
            <a:picLocks noChangeAspect="1"/>
          </p:cNvPicPr>
          <p:nvPr/>
        </p:nvPicPr>
        <p:blipFill>
          <a:blip r:embed="rId7"/>
          <a:stretch>
            <a:fillRect/>
          </a:stretch>
        </p:blipFill>
        <p:spPr>
          <a:xfrm>
            <a:off x="8686800" y="7302500"/>
            <a:ext cx="304800" cy="304800"/>
          </a:xfrm>
          <a:prstGeom prst="rect">
            <a:avLst/>
          </a:prstGeom>
        </p:spPr>
      </p:pic>
      <p:sp>
        <p:nvSpPr>
          <p:cNvPr id="18" name="TextBox 17"/>
          <p:cNvSpPr txBox="1"/>
          <p:nvPr/>
        </p:nvSpPr>
        <p:spPr>
          <a:xfrm>
            <a:off x="9347200" y="71374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Precision Medicine Outcomes</a:t>
            </a:r>
          </a:p>
        </p:txBody>
      </p:sp>
      <p:sp>
        <p:nvSpPr>
          <p:cNvPr id="19" name="Rounded Rectangle 18"/>
          <p:cNvSpPr/>
          <p:nvPr/>
        </p:nvSpPr>
        <p:spPr>
          <a:xfrm>
            <a:off x="9347200" y="75946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772400"/>
            <a:ext cx="5918200" cy="3302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Enables targeted therapies improving efficacy and reducing side effects.</a:t>
            </a:r>
          </a:p>
        </p:txBody>
      </p:sp>
      <p:sp>
        <p:nvSpPr>
          <p:cNvPr id="21" name="Rounded Rectangle 20"/>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ff355ebd-e0f0-4440-90a8-fb99fbbb059b.png"/>
          <p:cNvPicPr>
            <a:picLocks noChangeAspect="1"/>
          </p:cNvPicPr>
          <p:nvPr/>
        </p:nvPicPr>
        <p:blipFill>
          <a:blip r:embed="rId8"/>
          <a:stretch>
            <a:fillRect/>
          </a:stretch>
        </p:blipFill>
        <p:spPr>
          <a:xfrm>
            <a:off x="1524000" y="3225800"/>
            <a:ext cx="5689600" cy="4064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9779000" cy="1524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Personalized Treatment Plans (Cont.)</a:t>
            </a:r>
          </a:p>
        </p:txBody>
      </p:sp>
      <p:sp>
        <p:nvSpPr>
          <p:cNvPr id="3" name="Rounded Rectangle 2"/>
          <p:cNvSpPr/>
          <p:nvPr/>
        </p:nvSpPr>
        <p:spPr>
          <a:xfrm>
            <a:off x="1016000" y="2336800"/>
            <a:ext cx="12192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4" name="Picture 3" descr="8d8c1417-1a99-4023-8a8f-57d338532eba.png"/>
          <p:cNvPicPr>
            <a:picLocks noChangeAspect="1"/>
          </p:cNvPicPr>
          <p:nvPr/>
        </p:nvPicPr>
        <p:blipFill>
          <a:blip r:embed="rId3"/>
          <a:stretch>
            <a:fillRect/>
          </a:stretch>
        </p:blipFill>
        <p:spPr>
          <a:xfrm>
            <a:off x="11176000" y="609600"/>
            <a:ext cx="4064000" cy="2438400"/>
          </a:xfrm>
          <a:prstGeom prst="rect">
            <a:avLst/>
          </a:prstGeom>
        </p:spPr>
      </p:pic>
      <p:sp>
        <p:nvSpPr>
          <p:cNvPr id="5" name="TextBox 4"/>
          <p:cNvSpPr txBox="1"/>
          <p:nvPr/>
        </p:nvSpPr>
        <p:spPr>
          <a:xfrm>
            <a:off x="1016000" y="3454400"/>
            <a:ext cx="635000" cy="609600"/>
          </a:xfrm>
          <a:prstGeom prst="rect">
            <a:avLst/>
          </a:prstGeom>
          <a:noFill/>
        </p:spPr>
        <p:txBody>
          <a:bodyPr wrap="square" lIns="0" rIns="0" tIns="0" bIns="0">
            <a:spAutoFit/>
          </a:bodyPr>
          <a:lstStyle/>
          <a:p>
            <a:pPr algn="l">
              <a:lnSpc>
                <a:spcPct val="70000"/>
              </a:lnSpc>
              <a:defRPr i="0" sz="4800" b="1">
                <a:solidFill>
                  <a:srgbClr val="111827"/>
                </a:solidFill>
                <a:latin typeface="Inter"/>
              </a:defRPr>
            </a:pPr>
            <a:r>
              <a:rPr i="0" sz="4800" b="1">
                <a:solidFill>
                  <a:srgbClr val="111827"/>
                </a:solidFill>
                <a:latin typeface="Inter"/>
              </a:rPr>
              <a:t>01</a:t>
            </a:r>
          </a:p>
        </p:txBody>
      </p:sp>
      <p:sp>
        <p:nvSpPr>
          <p:cNvPr id="6" name="TextBox 5"/>
          <p:cNvSpPr txBox="1"/>
          <p:nvPr/>
        </p:nvSpPr>
        <p:spPr>
          <a:xfrm>
            <a:off x="1828800" y="3556000"/>
            <a:ext cx="6121400" cy="406400"/>
          </a:xfrm>
          <a:prstGeom prst="rect">
            <a:avLst/>
          </a:prstGeom>
          <a:noFill/>
        </p:spPr>
        <p:txBody>
          <a:bodyPr wrap="square" lIns="0" rIns="0" tIns="0" bIns="0">
            <a:spAutoFit/>
          </a:bodyPr>
          <a:lstStyle/>
          <a:p>
            <a:pPr algn="l">
              <a:defRPr i="0" sz="2400" b="1">
                <a:solidFill>
                  <a:srgbClr val="111827"/>
                </a:solidFill>
                <a:latin typeface="Inter"/>
              </a:defRPr>
            </a:pPr>
            <a:r>
              <a:rPr i="0" sz="2400" b="1">
                <a:solidFill>
                  <a:srgbClr val="111827"/>
                </a:solidFill>
                <a:latin typeface="Inter"/>
              </a:rPr>
              <a:t>Oncology Data Enhancement</a:t>
            </a:r>
          </a:p>
        </p:txBody>
      </p:sp>
      <p:sp>
        <p:nvSpPr>
          <p:cNvPr id="7" name="TextBox 6"/>
          <p:cNvSpPr txBox="1"/>
          <p:nvPr/>
        </p:nvSpPr>
        <p:spPr>
          <a:xfrm>
            <a:off x="1828800" y="4114800"/>
            <a:ext cx="61214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Tempus and Flatiron Health analyze real-world cancer data to improve survival outcome predictions by up to 22% using AI-driven insights.</a:t>
            </a:r>
          </a:p>
        </p:txBody>
      </p:sp>
      <p:sp>
        <p:nvSpPr>
          <p:cNvPr id="8" name="TextBox 7"/>
          <p:cNvSpPr txBox="1"/>
          <p:nvPr/>
        </p:nvSpPr>
        <p:spPr>
          <a:xfrm>
            <a:off x="8331200" y="3454400"/>
            <a:ext cx="635000" cy="609600"/>
          </a:xfrm>
          <a:prstGeom prst="rect">
            <a:avLst/>
          </a:prstGeom>
          <a:noFill/>
        </p:spPr>
        <p:txBody>
          <a:bodyPr wrap="square" lIns="0" rIns="0" tIns="0" bIns="0">
            <a:spAutoFit/>
          </a:bodyPr>
          <a:lstStyle/>
          <a:p>
            <a:pPr algn="l">
              <a:lnSpc>
                <a:spcPct val="70000"/>
              </a:lnSpc>
              <a:defRPr i="0" sz="4800" b="1">
                <a:solidFill>
                  <a:srgbClr val="111827"/>
                </a:solidFill>
                <a:latin typeface="Inter"/>
              </a:defRPr>
            </a:pPr>
            <a:r>
              <a:rPr i="0" sz="4800" b="1">
                <a:solidFill>
                  <a:srgbClr val="111827"/>
                </a:solidFill>
                <a:latin typeface="Inter"/>
              </a:rPr>
              <a:t>02</a:t>
            </a:r>
          </a:p>
        </p:txBody>
      </p:sp>
      <p:sp>
        <p:nvSpPr>
          <p:cNvPr id="9" name="TextBox 8"/>
          <p:cNvSpPr txBox="1"/>
          <p:nvPr/>
        </p:nvSpPr>
        <p:spPr>
          <a:xfrm>
            <a:off x="9144000" y="3556000"/>
            <a:ext cx="6121400" cy="406400"/>
          </a:xfrm>
          <a:prstGeom prst="rect">
            <a:avLst/>
          </a:prstGeom>
          <a:noFill/>
        </p:spPr>
        <p:txBody>
          <a:bodyPr wrap="square" lIns="0" rIns="0" tIns="0" bIns="0">
            <a:spAutoFit/>
          </a:bodyPr>
          <a:lstStyle/>
          <a:p>
            <a:pPr algn="l">
              <a:defRPr i="0" sz="2400" b="1">
                <a:solidFill>
                  <a:srgbClr val="111827"/>
                </a:solidFill>
                <a:latin typeface="Inter"/>
              </a:defRPr>
            </a:pPr>
            <a:r>
              <a:rPr i="0" sz="2400" b="1">
                <a:solidFill>
                  <a:srgbClr val="111827"/>
                </a:solidFill>
                <a:latin typeface="Inter"/>
              </a:rPr>
              <a:t>Cardiology Risk Prediction</a:t>
            </a:r>
          </a:p>
        </p:txBody>
      </p:sp>
      <p:sp>
        <p:nvSpPr>
          <p:cNvPr id="10" name="TextBox 9"/>
          <p:cNvSpPr txBox="1"/>
          <p:nvPr/>
        </p:nvSpPr>
        <p:spPr>
          <a:xfrm>
            <a:off x="9144000" y="4114800"/>
            <a:ext cx="61214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AI in cardiology evaluates individual patient data to forecast heart attack risk with 85% accuracy, supporting timely clinical decisions.</a:t>
            </a:r>
          </a:p>
        </p:txBody>
      </p:sp>
      <p:pic>
        <p:nvPicPr>
          <p:cNvPr id="11" name="Picture 10" descr="67f1a2ec-ad7a-4b6f-8b41-b62f261d8954.png"/>
          <p:cNvPicPr>
            <a:picLocks noChangeAspect="1"/>
          </p:cNvPicPr>
          <p:nvPr/>
        </p:nvPicPr>
        <p:blipFill>
          <a:blip r:embed="rId4"/>
          <a:stretch>
            <a:fillRect/>
          </a:stretch>
        </p:blipFill>
        <p:spPr>
          <a:xfrm>
            <a:off x="0" y="8128000"/>
            <a:ext cx="16256000" cy="1016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406400"/>
            <a:ext cx="9779000" cy="1524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Future Trends in AI Healthcare</a:t>
            </a:r>
          </a:p>
        </p:txBody>
      </p:sp>
      <p:sp>
        <p:nvSpPr>
          <p:cNvPr id="3" name="TextBox 2"/>
          <p:cNvSpPr txBox="1"/>
          <p:nvPr/>
        </p:nvSpPr>
        <p:spPr>
          <a:xfrm>
            <a:off x="1016000" y="2133600"/>
            <a:ext cx="9779000" cy="3302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AI healthcare market to hit $188B by 2030, driven by privacy-preserving and multimodal technologies.</a:t>
            </a:r>
          </a:p>
        </p:txBody>
      </p:sp>
      <p:sp>
        <p:nvSpPr>
          <p:cNvPr id="4" name="Rounded Rectangle 3"/>
          <p:cNvSpPr/>
          <p:nvPr/>
        </p:nvSpPr>
        <p:spPr>
          <a:xfrm>
            <a:off x="1016000" y="2870200"/>
            <a:ext cx="9753600" cy="5867400"/>
          </a:xfrm>
          <a:prstGeom prst="roundRect">
            <a:avLst>
              <a:gd name="adj" fmla="val 1731"/>
            </a:avLst>
          </a:prstGeom>
          <a:solidFill>
            <a:srgbClr val="F5F8FE"/>
          </a:solidFill>
          <a:ln w="12700">
            <a:solidFill>
              <a:srgbClr val="F3F4F6"/>
            </a:solidFill>
          </a:ln>
          <a:effectLst>
            <a:outerShdw blurRad="25400" dir="5400000" dist="12700" rotWithShape="0">
              <a:srgbClr val="000000">
                <a:alpha val="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5" name="Picture 4" descr="d7874aa6-53a5-4fe0-a62c-2e71248ada62.png"/>
          <p:cNvPicPr>
            <a:picLocks noChangeAspect="1"/>
          </p:cNvPicPr>
          <p:nvPr/>
        </p:nvPicPr>
        <p:blipFill>
          <a:blip r:embed="rId3"/>
          <a:stretch>
            <a:fillRect/>
          </a:stretch>
        </p:blipFill>
        <p:spPr>
          <a:xfrm>
            <a:off x="1231900" y="3086100"/>
            <a:ext cx="9321800" cy="5435600"/>
          </a:xfrm>
          <a:prstGeom prst="rect">
            <a:avLst/>
          </a:prstGeom>
        </p:spPr>
      </p:pic>
      <p:sp>
        <p:nvSpPr>
          <p:cNvPr id="6" name="TextBox 5"/>
          <p:cNvSpPr txBox="1"/>
          <p:nvPr/>
        </p:nvSpPr>
        <p:spPr>
          <a:xfrm>
            <a:off x="3632200" y="7454900"/>
            <a:ext cx="330200" cy="177800"/>
          </a:xfrm>
          <a:prstGeom prst="rect">
            <a:avLst/>
          </a:prstGeom>
          <a:noFill/>
        </p:spPr>
        <p:txBody>
          <a:bodyPr wrap="none" lIns="0" rIns="0" tIns="0" bIns="0">
            <a:spAutoFit/>
          </a:bodyPr>
          <a:lstStyle/>
          <a:p>
            <a:pPr algn="l">
              <a:defRPr i="0" sz="1200" b="1">
                <a:solidFill>
                  <a:srgbClr val="09090B"/>
                </a:solidFill>
                <a:latin typeface="Inter"/>
              </a:defRPr>
            </a:pPr>
            <a:r>
              <a:rPr i="0" sz="1200" b="1">
                <a:solidFill>
                  <a:srgbClr val="09090B"/>
                </a:solidFill>
                <a:latin typeface="Inter"/>
              </a:rPr>
              <a:t>2025</a:t>
            </a:r>
          </a:p>
        </p:txBody>
      </p:sp>
      <p:sp>
        <p:nvSpPr>
          <p:cNvPr id="7" name="TextBox 6"/>
          <p:cNvSpPr txBox="1"/>
          <p:nvPr/>
        </p:nvSpPr>
        <p:spPr>
          <a:xfrm>
            <a:off x="6184900" y="7454900"/>
            <a:ext cx="330200" cy="177800"/>
          </a:xfrm>
          <a:prstGeom prst="rect">
            <a:avLst/>
          </a:prstGeom>
          <a:noFill/>
        </p:spPr>
        <p:txBody>
          <a:bodyPr wrap="none" lIns="0" rIns="0" tIns="0" bIns="0">
            <a:spAutoFit/>
          </a:bodyPr>
          <a:lstStyle/>
          <a:p>
            <a:pPr algn="l">
              <a:defRPr i="0" sz="1200" b="1">
                <a:solidFill>
                  <a:srgbClr val="09090B"/>
                </a:solidFill>
                <a:latin typeface="Inter"/>
              </a:defRPr>
            </a:pPr>
            <a:r>
              <a:rPr i="0" sz="1200" b="1">
                <a:solidFill>
                  <a:srgbClr val="09090B"/>
                </a:solidFill>
                <a:latin typeface="Inter"/>
              </a:rPr>
              <a:t>2027</a:t>
            </a:r>
          </a:p>
        </p:txBody>
      </p:sp>
      <p:sp>
        <p:nvSpPr>
          <p:cNvPr id="8" name="TextBox 7"/>
          <p:cNvSpPr txBox="1"/>
          <p:nvPr/>
        </p:nvSpPr>
        <p:spPr>
          <a:xfrm>
            <a:off x="8737600" y="7454900"/>
            <a:ext cx="330200" cy="177800"/>
          </a:xfrm>
          <a:prstGeom prst="rect">
            <a:avLst/>
          </a:prstGeom>
          <a:noFill/>
        </p:spPr>
        <p:txBody>
          <a:bodyPr wrap="none" lIns="0" rIns="0" tIns="0" bIns="0">
            <a:spAutoFit/>
          </a:bodyPr>
          <a:lstStyle/>
          <a:p>
            <a:pPr algn="l">
              <a:defRPr i="0" sz="1200" b="1">
                <a:solidFill>
                  <a:srgbClr val="09090B"/>
                </a:solidFill>
                <a:latin typeface="Inter"/>
              </a:defRPr>
            </a:pPr>
            <a:r>
              <a:rPr i="0" sz="1200" b="1">
                <a:solidFill>
                  <a:srgbClr val="09090B"/>
                </a:solidFill>
                <a:latin typeface="Inter"/>
              </a:rPr>
              <a:t>2030</a:t>
            </a:r>
          </a:p>
        </p:txBody>
      </p:sp>
      <p:sp>
        <p:nvSpPr>
          <p:cNvPr id="9" name="TextBox 8"/>
          <p:cNvSpPr txBox="1"/>
          <p:nvPr/>
        </p:nvSpPr>
        <p:spPr>
          <a:xfrm>
            <a:off x="2324100" y="7289800"/>
            <a:ext cx="101600" cy="177800"/>
          </a:xfrm>
          <a:prstGeom prst="rect">
            <a:avLst/>
          </a:prstGeom>
          <a:noFill/>
        </p:spPr>
        <p:txBody>
          <a:bodyPr wrap="none" lIns="0" rIns="0" tIns="0" bIns="0">
            <a:spAutoFit/>
          </a:bodyPr>
          <a:lstStyle/>
          <a:p>
            <a:pPr algn="l">
              <a:defRPr i="0" sz="1200" b="1">
                <a:solidFill>
                  <a:srgbClr val="09090B"/>
                </a:solidFill>
                <a:latin typeface="Inter"/>
              </a:defRPr>
            </a:pPr>
            <a:r>
              <a:rPr i="0" sz="1200" b="1">
                <a:solidFill>
                  <a:srgbClr val="09090B"/>
                </a:solidFill>
                <a:latin typeface="Inter"/>
              </a:rPr>
              <a:t>0</a:t>
            </a:r>
          </a:p>
        </p:txBody>
      </p:sp>
      <p:sp>
        <p:nvSpPr>
          <p:cNvPr id="10" name="TextBox 9"/>
          <p:cNvSpPr txBox="1"/>
          <p:nvPr/>
        </p:nvSpPr>
        <p:spPr>
          <a:xfrm>
            <a:off x="2247900" y="6286500"/>
            <a:ext cx="177800" cy="177800"/>
          </a:xfrm>
          <a:prstGeom prst="rect">
            <a:avLst/>
          </a:prstGeom>
          <a:noFill/>
        </p:spPr>
        <p:txBody>
          <a:bodyPr wrap="none" lIns="0" rIns="0" tIns="0" bIns="0">
            <a:spAutoFit/>
          </a:bodyPr>
          <a:lstStyle/>
          <a:p>
            <a:pPr algn="l">
              <a:defRPr i="0" sz="1200" b="1">
                <a:solidFill>
                  <a:srgbClr val="09090B"/>
                </a:solidFill>
                <a:latin typeface="Inter"/>
              </a:defRPr>
            </a:pPr>
            <a:r>
              <a:rPr i="0" sz="1200" b="1">
                <a:solidFill>
                  <a:srgbClr val="09090B"/>
                </a:solidFill>
                <a:latin typeface="Inter"/>
              </a:rPr>
              <a:t>50</a:t>
            </a:r>
          </a:p>
        </p:txBody>
      </p:sp>
      <p:sp>
        <p:nvSpPr>
          <p:cNvPr id="11" name="TextBox 10"/>
          <p:cNvSpPr txBox="1"/>
          <p:nvPr/>
        </p:nvSpPr>
        <p:spPr>
          <a:xfrm>
            <a:off x="2171700" y="5270500"/>
            <a:ext cx="254000" cy="177800"/>
          </a:xfrm>
          <a:prstGeom prst="rect">
            <a:avLst/>
          </a:prstGeom>
          <a:noFill/>
        </p:spPr>
        <p:txBody>
          <a:bodyPr wrap="none" lIns="0" rIns="0" tIns="0" bIns="0">
            <a:spAutoFit/>
          </a:bodyPr>
          <a:lstStyle/>
          <a:p>
            <a:pPr algn="l">
              <a:defRPr i="0" sz="1200" b="1">
                <a:solidFill>
                  <a:srgbClr val="09090B"/>
                </a:solidFill>
                <a:latin typeface="Inter"/>
              </a:defRPr>
            </a:pPr>
            <a:r>
              <a:rPr i="0" sz="1200" b="1">
                <a:solidFill>
                  <a:srgbClr val="09090B"/>
                </a:solidFill>
                <a:latin typeface="Inter"/>
              </a:rPr>
              <a:t>100</a:t>
            </a:r>
          </a:p>
        </p:txBody>
      </p:sp>
      <p:sp>
        <p:nvSpPr>
          <p:cNvPr id="12" name="TextBox 11"/>
          <p:cNvSpPr txBox="1"/>
          <p:nvPr/>
        </p:nvSpPr>
        <p:spPr>
          <a:xfrm>
            <a:off x="2171700" y="4267200"/>
            <a:ext cx="254000" cy="177800"/>
          </a:xfrm>
          <a:prstGeom prst="rect">
            <a:avLst/>
          </a:prstGeom>
          <a:noFill/>
        </p:spPr>
        <p:txBody>
          <a:bodyPr wrap="none" lIns="0" rIns="0" tIns="0" bIns="0">
            <a:spAutoFit/>
          </a:bodyPr>
          <a:lstStyle/>
          <a:p>
            <a:pPr algn="l">
              <a:defRPr i="0" sz="1200" b="1">
                <a:solidFill>
                  <a:srgbClr val="09090B"/>
                </a:solidFill>
                <a:latin typeface="Inter"/>
              </a:defRPr>
            </a:pPr>
            <a:r>
              <a:rPr i="0" sz="1200" b="1">
                <a:solidFill>
                  <a:srgbClr val="09090B"/>
                </a:solidFill>
                <a:latin typeface="Inter"/>
              </a:rPr>
              <a:t>150</a:t>
            </a:r>
          </a:p>
        </p:txBody>
      </p:sp>
      <p:sp>
        <p:nvSpPr>
          <p:cNvPr id="13" name="TextBox 12"/>
          <p:cNvSpPr txBox="1"/>
          <p:nvPr/>
        </p:nvSpPr>
        <p:spPr>
          <a:xfrm>
            <a:off x="2171700" y="3251200"/>
            <a:ext cx="254000" cy="177800"/>
          </a:xfrm>
          <a:prstGeom prst="rect">
            <a:avLst/>
          </a:prstGeom>
          <a:noFill/>
        </p:spPr>
        <p:txBody>
          <a:bodyPr wrap="none" lIns="0" rIns="0" tIns="0" bIns="0">
            <a:spAutoFit/>
          </a:bodyPr>
          <a:lstStyle/>
          <a:p>
            <a:pPr algn="l">
              <a:defRPr i="0" sz="1200" b="1">
                <a:solidFill>
                  <a:srgbClr val="09090B"/>
                </a:solidFill>
                <a:latin typeface="Inter"/>
              </a:defRPr>
            </a:pPr>
            <a:r>
              <a:rPr i="0" sz="1200" b="1">
                <a:solidFill>
                  <a:srgbClr val="09090B"/>
                </a:solidFill>
                <a:latin typeface="Inter"/>
              </a:rPr>
              <a:t>200</a:t>
            </a:r>
          </a:p>
        </p:txBody>
      </p:sp>
      <p:sp>
        <p:nvSpPr>
          <p:cNvPr id="14" name="Rounded Rectangle 13"/>
          <p:cNvSpPr/>
          <p:nvPr/>
        </p:nvSpPr>
        <p:spPr>
          <a:xfrm>
            <a:off x="11176000" y="1460500"/>
            <a:ext cx="4064000" cy="2032000"/>
          </a:xfrm>
          <a:prstGeom prst="roundRect">
            <a:avLst>
              <a:gd name="adj" fmla="val 1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Rounded Rectangle 14"/>
          <p:cNvSpPr/>
          <p:nvPr/>
        </p:nvSpPr>
        <p:spPr>
          <a:xfrm>
            <a:off x="11480800" y="1765300"/>
            <a:ext cx="406400" cy="406400"/>
          </a:xfrm>
          <a:prstGeom prst="roundRect">
            <a:avLst>
              <a:gd name="adj" fmla="val 25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6" name="Picture 15" descr="d567014b-ee60-4c51-9cad-f0c570a32a78.png"/>
          <p:cNvPicPr>
            <a:picLocks noChangeAspect="1"/>
          </p:cNvPicPr>
          <p:nvPr/>
        </p:nvPicPr>
        <p:blipFill>
          <a:blip r:embed="rId4"/>
          <a:stretch>
            <a:fillRect/>
          </a:stretch>
        </p:blipFill>
        <p:spPr>
          <a:xfrm>
            <a:off x="11557000" y="1854200"/>
            <a:ext cx="254000" cy="254000"/>
          </a:xfrm>
          <a:prstGeom prst="rect">
            <a:avLst/>
          </a:prstGeom>
        </p:spPr>
      </p:pic>
      <p:sp>
        <p:nvSpPr>
          <p:cNvPr id="17" name="TextBox 16"/>
          <p:cNvSpPr txBox="1"/>
          <p:nvPr/>
        </p:nvSpPr>
        <p:spPr>
          <a:xfrm>
            <a:off x="12039600" y="1790700"/>
            <a:ext cx="1968500" cy="355600"/>
          </a:xfrm>
          <a:prstGeom prst="rect">
            <a:avLst/>
          </a:prstGeom>
          <a:noFill/>
        </p:spPr>
        <p:txBody>
          <a:bodyPr wrap="square" lIns="0" rIns="0" tIns="0" bIns="0">
            <a:spAutoFit/>
          </a:bodyPr>
          <a:lstStyle/>
          <a:p>
            <a:pPr algn="l">
              <a:defRPr i="0" sz="1800" b="1">
                <a:solidFill>
                  <a:srgbClr val="FFFFFF"/>
                </a:solidFill>
                <a:latin typeface="Inter"/>
              </a:defRPr>
            </a:pPr>
            <a:r>
              <a:rPr i="0" sz="1800" b="1">
                <a:solidFill>
                  <a:srgbClr val="FFFFFF"/>
                </a:solidFill>
                <a:latin typeface="Inter"/>
              </a:rPr>
              <a:t>Federated Learning</a:t>
            </a:r>
          </a:p>
        </p:txBody>
      </p:sp>
      <p:sp>
        <p:nvSpPr>
          <p:cNvPr id="18" name="TextBox 17"/>
          <p:cNvSpPr txBox="1"/>
          <p:nvPr/>
        </p:nvSpPr>
        <p:spPr>
          <a:xfrm>
            <a:off x="11480800" y="2324100"/>
            <a:ext cx="3479800" cy="863600"/>
          </a:xfrm>
          <a:prstGeom prst="rect">
            <a:avLst/>
          </a:prstGeom>
          <a:noFill/>
        </p:spPr>
        <p:txBody>
          <a:bodyPr wrap="square" lIns="0" rIns="0" tIns="0" bIns="0">
            <a:spAutoFit/>
          </a:bodyPr>
          <a:lstStyle/>
          <a:p>
            <a:pPr algn="l">
              <a:lnSpc>
                <a:spcPct val="133000"/>
              </a:lnSpc>
              <a:defRPr i="0" sz="1400" b="0">
                <a:solidFill>
                  <a:srgbClr val="FFFFFF"/>
                </a:solidFill>
                <a:latin typeface="Inter"/>
              </a:defRPr>
            </a:pPr>
            <a:r>
              <a:rPr i="0" sz="1400" b="0">
                <a:solidFill>
                  <a:srgbClr val="FFFFFF"/>
                </a:solidFill>
                <a:latin typeface="Inter"/>
              </a:rPr>
              <a:t>Enables collaborative AI training across institutions without sharing sensitive patient data.</a:t>
            </a:r>
          </a:p>
        </p:txBody>
      </p:sp>
      <p:sp>
        <p:nvSpPr>
          <p:cNvPr id="19" name="Rounded Rectangle 18"/>
          <p:cNvSpPr/>
          <p:nvPr/>
        </p:nvSpPr>
        <p:spPr>
          <a:xfrm>
            <a:off x="11176000" y="3695700"/>
            <a:ext cx="4064000" cy="2032000"/>
          </a:xfrm>
          <a:prstGeom prst="roundRect">
            <a:avLst>
              <a:gd name="adj" fmla="val 1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Rounded Rectangle 19"/>
          <p:cNvSpPr/>
          <p:nvPr/>
        </p:nvSpPr>
        <p:spPr>
          <a:xfrm>
            <a:off x="11480800" y="4000500"/>
            <a:ext cx="406400" cy="406400"/>
          </a:xfrm>
          <a:prstGeom prst="roundRect">
            <a:avLst>
              <a:gd name="adj" fmla="val 25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1" name="Picture 20" descr="9a00d0a3-6652-431c-aab1-7c328b1822af.png"/>
          <p:cNvPicPr>
            <a:picLocks noChangeAspect="1"/>
          </p:cNvPicPr>
          <p:nvPr/>
        </p:nvPicPr>
        <p:blipFill>
          <a:blip r:embed="rId5"/>
          <a:stretch>
            <a:fillRect/>
          </a:stretch>
        </p:blipFill>
        <p:spPr>
          <a:xfrm>
            <a:off x="11557000" y="4102100"/>
            <a:ext cx="254000" cy="254000"/>
          </a:xfrm>
          <a:prstGeom prst="rect">
            <a:avLst/>
          </a:prstGeom>
        </p:spPr>
      </p:pic>
      <p:sp>
        <p:nvSpPr>
          <p:cNvPr id="22" name="TextBox 21"/>
          <p:cNvSpPr txBox="1"/>
          <p:nvPr/>
        </p:nvSpPr>
        <p:spPr>
          <a:xfrm>
            <a:off x="12039600" y="4025900"/>
            <a:ext cx="1955800" cy="355600"/>
          </a:xfrm>
          <a:prstGeom prst="rect">
            <a:avLst/>
          </a:prstGeom>
          <a:noFill/>
        </p:spPr>
        <p:txBody>
          <a:bodyPr wrap="square" lIns="0" rIns="0" tIns="0" bIns="0">
            <a:spAutoFit/>
          </a:bodyPr>
          <a:lstStyle/>
          <a:p>
            <a:pPr algn="l">
              <a:defRPr i="0" sz="1800" b="1">
                <a:solidFill>
                  <a:srgbClr val="FFFFFF"/>
                </a:solidFill>
                <a:latin typeface="Inter"/>
              </a:defRPr>
            </a:pPr>
            <a:r>
              <a:rPr i="0" sz="1800" b="1">
                <a:solidFill>
                  <a:srgbClr val="FFFFFF"/>
                </a:solidFill>
                <a:latin typeface="Inter"/>
              </a:rPr>
              <a:t>Multimodal Models</a:t>
            </a:r>
          </a:p>
        </p:txBody>
      </p:sp>
      <p:sp>
        <p:nvSpPr>
          <p:cNvPr id="23" name="TextBox 22"/>
          <p:cNvSpPr txBox="1"/>
          <p:nvPr/>
        </p:nvSpPr>
        <p:spPr>
          <a:xfrm>
            <a:off x="11480800" y="4559300"/>
            <a:ext cx="3479800" cy="863600"/>
          </a:xfrm>
          <a:prstGeom prst="rect">
            <a:avLst/>
          </a:prstGeom>
          <a:noFill/>
        </p:spPr>
        <p:txBody>
          <a:bodyPr wrap="square" lIns="0" rIns="0" tIns="0" bIns="0">
            <a:spAutoFit/>
          </a:bodyPr>
          <a:lstStyle/>
          <a:p>
            <a:pPr algn="l">
              <a:lnSpc>
                <a:spcPct val="133000"/>
              </a:lnSpc>
              <a:defRPr i="0" sz="1400" b="0">
                <a:solidFill>
                  <a:srgbClr val="FFFFFF"/>
                </a:solidFill>
                <a:latin typeface="Inter"/>
              </a:defRPr>
            </a:pPr>
            <a:r>
              <a:rPr i="0" sz="1400" b="0">
                <a:solidFill>
                  <a:srgbClr val="FFFFFF"/>
                </a:solidFill>
                <a:latin typeface="Inter"/>
              </a:rPr>
              <a:t>Integrates diverse data types like medical images, genomics, and EHRs for comprehensive insights.</a:t>
            </a:r>
          </a:p>
        </p:txBody>
      </p:sp>
      <p:sp>
        <p:nvSpPr>
          <p:cNvPr id="24" name="Rounded Rectangle 23"/>
          <p:cNvSpPr/>
          <p:nvPr/>
        </p:nvSpPr>
        <p:spPr>
          <a:xfrm>
            <a:off x="11176000" y="5943600"/>
            <a:ext cx="4064000" cy="1752600"/>
          </a:xfrm>
          <a:prstGeom prst="roundRect">
            <a:avLst>
              <a:gd name="adj" fmla="val 11594"/>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Rounded Rectangle 24"/>
          <p:cNvSpPr/>
          <p:nvPr/>
        </p:nvSpPr>
        <p:spPr>
          <a:xfrm>
            <a:off x="11480800" y="6248400"/>
            <a:ext cx="406400" cy="406400"/>
          </a:xfrm>
          <a:prstGeom prst="roundRect">
            <a:avLst>
              <a:gd name="adj" fmla="val 25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6" name="Picture 25" descr="c214162c-7ed1-4531-ac99-f28ad0a11016.png"/>
          <p:cNvPicPr>
            <a:picLocks noChangeAspect="1"/>
          </p:cNvPicPr>
          <p:nvPr/>
        </p:nvPicPr>
        <p:blipFill>
          <a:blip r:embed="rId6"/>
          <a:stretch>
            <a:fillRect/>
          </a:stretch>
        </p:blipFill>
        <p:spPr>
          <a:xfrm>
            <a:off x="11557000" y="6337300"/>
            <a:ext cx="254000" cy="254000"/>
          </a:xfrm>
          <a:prstGeom prst="rect">
            <a:avLst/>
          </a:prstGeom>
        </p:spPr>
      </p:pic>
      <p:sp>
        <p:nvSpPr>
          <p:cNvPr id="27" name="TextBox 26"/>
          <p:cNvSpPr txBox="1"/>
          <p:nvPr/>
        </p:nvSpPr>
        <p:spPr>
          <a:xfrm>
            <a:off x="12039600" y="6273800"/>
            <a:ext cx="2222500" cy="355600"/>
          </a:xfrm>
          <a:prstGeom prst="rect">
            <a:avLst/>
          </a:prstGeom>
          <a:noFill/>
        </p:spPr>
        <p:txBody>
          <a:bodyPr wrap="square" lIns="0" rIns="0" tIns="0" bIns="0">
            <a:spAutoFit/>
          </a:bodyPr>
          <a:lstStyle/>
          <a:p>
            <a:pPr algn="l">
              <a:defRPr i="0" sz="1800" b="1">
                <a:solidFill>
                  <a:srgbClr val="FFFFFF"/>
                </a:solidFill>
                <a:latin typeface="Inter"/>
              </a:defRPr>
            </a:pPr>
            <a:r>
              <a:rPr i="0" sz="1800" b="1">
                <a:solidFill>
                  <a:srgbClr val="FFFFFF"/>
                </a:solidFill>
                <a:latin typeface="Inter"/>
              </a:rPr>
              <a:t>Real-Time Diagnostics</a:t>
            </a:r>
          </a:p>
        </p:txBody>
      </p:sp>
      <p:sp>
        <p:nvSpPr>
          <p:cNvPr id="28" name="TextBox 27"/>
          <p:cNvSpPr txBox="1"/>
          <p:nvPr/>
        </p:nvSpPr>
        <p:spPr>
          <a:xfrm>
            <a:off x="11480800" y="6807200"/>
            <a:ext cx="3479800" cy="584200"/>
          </a:xfrm>
          <a:prstGeom prst="rect">
            <a:avLst/>
          </a:prstGeom>
          <a:noFill/>
        </p:spPr>
        <p:txBody>
          <a:bodyPr wrap="square" lIns="0" rIns="0" tIns="0" bIns="0">
            <a:spAutoFit/>
          </a:bodyPr>
          <a:lstStyle/>
          <a:p>
            <a:pPr algn="l">
              <a:lnSpc>
                <a:spcPct val="133000"/>
              </a:lnSpc>
              <a:defRPr i="0" sz="1400" b="0">
                <a:solidFill>
                  <a:srgbClr val="FFFFFF"/>
                </a:solidFill>
                <a:latin typeface="Inter"/>
              </a:defRPr>
            </a:pPr>
            <a:r>
              <a:rPr i="0" sz="1400" b="0">
                <a:solidFill>
                  <a:srgbClr val="FFFFFF"/>
                </a:solidFill>
                <a:latin typeface="Inter"/>
              </a:rPr>
              <a:t>AI systems will increasingly support real-time clinical decision-making at the point of care.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
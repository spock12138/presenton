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正在显著提升医学影像诊断的精准度和效率。本节将介绍AI在该领域的核心应用及其带来的变革，为后续内容奠定基础。请注意关键应用场景和技术优势的概述。了解这些有助于把握医疗AI的发展方向和实际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在医学影像诊断中发挥着关键作用，能够快速识别病灶并提升诊断准确率。它辅助医生进行决策，减少漏诊和误诊风险，同时提高工作效率，尤其在处理大量影像数据时优势明显。持续学习能力也让AI系统不断优化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了关键业务指标，包括用户增长、收入表现和市场占有率。这些数据支持我们的战略方向，并证明当前举措的有效性。请关注核心指标的趋势和实际成果。不要陷入细节，重点是整体进展和成功验证。结合案例进一步说明时，可引用此处数据增强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正在显著加快新药研发进程。通过分析海量生物医学数据，AI能快速识别潜在药物分子，缩短早期研发周期。这不仅降低了研发成本，还提高了成功率，为治疗复杂疾病提供了新的可能路径。需强调的是，AI在此过程中是辅助工具，不能完全替代临床试验和科学家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了药物研发中的关键技术与平台，包括基因编辑、人工智能辅助设计、高通量筛选和生物制剂递送系统。这些技术显著提高了新药发现的效率和精准度，推动了创新疗法的发展，是现代制药工业的核心支撑体系。需简明扼要地传达各技术的作用与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正在推动个性化医疗的发展，通过分析基因数据和健康记录为患者提供精准治疗方案。这不仅能提高疗效，还能减少副作用，优化医疗资源的使用。未来，AI将在临床决策中发挥更大作用。同时需要关注数据隐私和算法透明性问题，确保技术安全可靠地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案例展示了AI在个性化医疗中的实际应用，通过数据分析和智能算法提升诊疗效率与精准度。重点强调技术如何辅助医生制定个性化治疗方案，并改善患者预后。注意结合图表说明AI模型的预测准确率及其临床价值。避免提及系统或平台本身，聚焦在医疗成果和技术赋能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正在深刻改变医疗行业，未来将实现更精准的诊断与个性化治疗。技术进步将提升医疗服务效率，同时降低误诊率。需关注数据隐私与伦理问题，确保技术可靠可控。持续投入研发是推动AI医疗落地的关键。各方应加强合作，共同应对挑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d58a5659-51a8-4e29-be3b-0adf4f242f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4257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人工智能在医学影像诊断中的应用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2545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6101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人工智能通过深度学习分析影像，提高疾病检测准确率，加快诊断流程，辅助医生决策。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56261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5969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5100" y="612140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5943600"/>
            <a:ext cx="977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299200"/>
            <a:ext cx="9779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2026-01-04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AI在医学影像诊断中的核心作用</a:t>
            </a:r>
          </a:p>
        </p:txBody>
      </p:sp>
      <p:pic>
        <p:nvPicPr>
          <p:cNvPr id="3" name="Picture 2" descr="bf4307ea-0f0a-4b5f-b61f-962a8ebda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6ee0b05f-3ff8-472c-b9a9-539281197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933700"/>
            <a:ext cx="67310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AI利用深度学习技术分析医学影像，可快速定位异常区域，辅助医生做出更精准的诊断决策，显著提升诊疗效率与质量。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0e1bd23a-57fb-4311-9681-5a9dfa51b4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2418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407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病灶自动识别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453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471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自动检测肿瘤、出血等异常区域，提升早期发现几率。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534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127bfb6c-6b9d-461a-8d48-d145c444d5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5118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534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诊断精度提升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580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98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通过深度学习模型提高诊断一致性与准确性。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661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098aa6eb-541a-4a34-931d-8b67e72d46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67818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661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高效处理能力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707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725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加快影像分析速度，缩短患者等待时间。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6a0b0c74-8989-48b8-ab21-f4cc23d80b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225800"/>
            <a:ext cx="56896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d6c8c97-fce0-40b2-942d-80574a073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2d6c8c97-fce0-40b2-942d-80574a073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7432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典型案例与数据支持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9500" y="4114800"/>
            <a:ext cx="5511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月活跃用户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9500" y="4572000"/>
            <a:ext cx="5511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1.2亿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9500" y="5537200"/>
            <a:ext cx="54864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3500" y="57912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平台月活跃用户持续增长，显示产品吸引力和用户参与度提升。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1200" y="4114800"/>
            <a:ext cx="568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4572000"/>
            <a:ext cx="5689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¥85亿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1200" y="5537200"/>
            <a:ext cx="56642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5200" y="5791200"/>
            <a:ext cx="5181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年度总收入同比增长显著，反映商业模式的可持续性和扩展能力。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c28042f-36bb-4644-8af5-71a8ccf963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3" name="Picture 2" descr="344ae4d7-b237-42ee-8167-8d1a62bb3d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8966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AI 辅助药物研发：加速新药发现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4826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ef5ab28e-4af6-4e8c-b9bc-a9756b6d82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9911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2000" y="48260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分子筛选加速器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42000" y="4826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acc94ac4-8a20-4c36-98c3-44700ff163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49911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54800" y="48260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大数据驱动靶点发现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9200" y="6146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eef33eac-bc11-4046-8b88-dfcb02f7dd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63119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32000" y="61468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研发周期缩短30-50%</a:t>
            </a:r>
          </a:p>
        </p:txBody>
      </p:sp>
      <p:pic>
        <p:nvPicPr>
          <p:cNvPr id="14" name="Picture 13" descr="611a2956-0847-4194-a57e-7f2e20a6c98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15" name="Picture 14" descr="1cc861d9-abe5-493f-872e-74e5e933a5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e044fe2d-2fd5-449c-9ab4-bd3818d4fc8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d6c8c97-fce0-40b2-942d-80574a073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2d6c8c97-fce0-40b2-942d-80574a073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药物研发中的关键技术与平台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0" y="1574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38400" y="2857500"/>
            <a:ext cx="11379200" cy="4343400"/>
          </a:xfrm>
          <a:prstGeom prst="roundRect">
            <a:avLst>
              <a:gd name="adj" fmla="val 2339"/>
            </a:avLst>
          </a:prstGeom>
          <a:solidFill>
            <a:srgbClr val="E5E7EB"/>
          </a:solidFill>
          <a:ln w="12700">
            <a:solidFill>
              <a:srgbClr val="E5E7EB"/>
            </a:solidFill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1100" y="2870200"/>
            <a:ext cx="11353800" cy="711200"/>
          </a:xfrm>
          <a:prstGeom prst="roundRect">
            <a:avLst>
              <a:gd name="adj" fmla="val 14285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5900" y="30734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技术/平台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5500" y="30734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主要应用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1100" y="3581400"/>
            <a:ext cx="11353800" cy="711200"/>
          </a:xfrm>
          <a:prstGeom prst="roundRect">
            <a:avLst>
              <a:gd name="adj" fmla="val 14285"/>
            </a:avLst>
          </a:prstGeom>
          <a:solidFill>
            <a:srgbClr val="F9FAF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1100" y="35814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5900" y="37846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基因编辑（如CRISPR）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0700" y="35814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5500" y="37846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靶点验证与疾病模型构建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1100" y="4292600"/>
            <a:ext cx="11353800" cy="72390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51100" y="43053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5900" y="45085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人工智能药物设计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0700" y="43053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5500" y="45085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分子筛选与活性预测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1100" y="5016500"/>
            <a:ext cx="11353800" cy="723900"/>
          </a:xfrm>
          <a:prstGeom prst="roundRect">
            <a:avLst>
              <a:gd name="adj" fmla="val 1403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1100" y="50292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5900" y="52324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高通量筛选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0700" y="50292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5500" y="52324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快速测试化合物活性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1100" y="5740400"/>
            <a:ext cx="11353800" cy="72390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51100" y="57531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55900" y="59563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单克隆抗体平台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0700" y="57531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5500" y="59563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靶向治疗药物开发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51100" y="6464300"/>
            <a:ext cx="11353800" cy="723900"/>
          </a:xfrm>
          <a:prstGeom prst="roundRect">
            <a:avLst>
              <a:gd name="adj" fmla="val 1403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51100" y="64770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5900" y="66802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纳米递送系统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40700" y="6477000"/>
            <a:ext cx="5676900" cy="711200"/>
          </a:xfrm>
          <a:prstGeom prst="roundRect">
            <a:avLst>
              <a:gd name="adj" fmla="val 14285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5500" y="6680200"/>
            <a:ext cx="5092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提高药物生物利用度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400" y="8432800"/>
            <a:ext cx="11404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关键技术和平台加速药物发现，提高靶向性和成功率，降低研发成本。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个性化医疗方案：基于AI的精准治疗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2336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8fc7c358-25fc-4189-a9dd-c247a04f8c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560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精准诊断与治疗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6121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利用AI分析基因组与病史，制定个性化治疗计划，提升治疗效果。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5560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动态优化干预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6121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实时监测患者反应并动态调整治疗方案，增强治疗适应性。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8514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530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智能临床辅助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511800"/>
            <a:ext cx="6121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整合多源医疗数据，支持医生做出更快速、准确的临床决策。</a:t>
            </a:r>
          </a:p>
        </p:txBody>
      </p:sp>
      <p:pic>
        <p:nvPicPr>
          <p:cNvPr id="14" name="Picture 13" descr="6ae7b8a7-86df-40e6-a36f-57a8a906d5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406400"/>
            <a:ext cx="9779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AI驱动的医疗实践成效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9779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展示AI在临床实践中提升诊疗精度与效率的关键指标，涵盖诊断、治疗与风险管理维度。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2108200"/>
            <a:ext cx="9753600" cy="6629400"/>
          </a:xfrm>
          <a:prstGeom prst="roundRect">
            <a:avLst>
              <a:gd name="adj" fmla="val 1532"/>
            </a:avLst>
          </a:prstGeom>
          <a:solidFill>
            <a:srgbClr val="F5F8FE"/>
          </a:solidFill>
          <a:ln w="12700">
            <a:solidFill>
              <a:srgbClr val="F3F4F6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8c53937c-51aa-47b9-800b-c90e617674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2324100"/>
            <a:ext cx="9321800" cy="619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03600" y="7099300"/>
            <a:ext cx="7874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诊断准确率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6300" y="7099300"/>
            <a:ext cx="7874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治疗响应率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7099300"/>
            <a:ext cx="7874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误诊率下降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100" y="6934200"/>
            <a:ext cx="101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7900" y="5829300"/>
            <a:ext cx="177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7900" y="4711700"/>
            <a:ext cx="177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7900" y="3606800"/>
            <a:ext cx="177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2489200"/>
            <a:ext cx="254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96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2A5C82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176000" y="17526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0800" y="20574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c324ec40-3f5e-460d-84d9-642d17af9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0" y="2146300"/>
            <a:ext cx="254000" cy="25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39600" y="2082800"/>
            <a:ext cx="162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基因组智能解析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80800" y="26162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利用深度学习分析患者基因组数据，实现癌症早期精准分型。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76000" y="36957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80800" y="40005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ca9d50ee-d488-48c1-a6ee-880ecc010c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0" y="4102100"/>
            <a:ext cx="254000" cy="25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39600" y="40259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智能用药推荐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80800" y="45593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基于电子病历与实时监测数据，动态优化个体化用药方案。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76000" y="56515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80800" y="59563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58a99076-dafa-4221-9580-4a7f6c8f5c8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7000" y="6045200"/>
            <a:ext cx="254000" cy="25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39600" y="598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风险预测模型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80800" y="65151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AI预测疾病进展风险，辅助临床决策，提升治疗响应率。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0b7e262-74d2-441f-8de4-cf2940bd72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625600" cy="1625600"/>
          </a:xfrm>
          <a:prstGeom prst="roundRect">
            <a:avLst>
              <a:gd name="adj" fmla="val 50000"/>
            </a:avLst>
          </a:prstGeom>
          <a:solidFill>
            <a:srgbClr val="9333EA">
              <a:alpha val="2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224000" y="7112000"/>
            <a:ext cx="2032000" cy="2032000"/>
          </a:xfrm>
          <a:prstGeom prst="roundRect">
            <a:avLst>
              <a:gd name="adj" fmla="val 50000"/>
            </a:avLst>
          </a:prstGeom>
          <a:solidFill>
            <a:srgbClr val="C084FC">
              <a:alpha val="2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4000" y="45720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9042400"/>
            <a:ext cx="16256000" cy="101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38400" y="2743200"/>
            <a:ext cx="1140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未来发展趋势：AI与医疗深度融合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0" y="35560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a08e9d72-b1c8-4f9f-8cbb-314ed487d2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401320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38400" y="4927600"/>
            <a:ext cx="1140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1" sz="3000" b="0">
                <a:solidFill>
                  <a:srgbClr val="FFFFFF"/>
                </a:solidFill>
                <a:latin typeface="Inter"/>
              </a:defRPr>
            </a:pPr>
            <a:r>
              <a:rPr i="1" sz="3000" b="0">
                <a:solidFill>
                  <a:srgbClr val="FFFFFF"/>
                </a:solidFill>
                <a:latin typeface="Inter"/>
              </a:rPr>
              <a:t>"人工智能将重塑医疗模式，实现精准诊疗和高效服务，推动健康体系智能化升级。"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4800" y="6324600"/>
            <a:ext cx="812800" cy="12700"/>
          </a:xfrm>
          <a:prstGeom prst="roundRect">
            <a:avLst>
              <a:gd name="adj" fmla="val 4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0800" y="6146800"/>
            <a:ext cx="939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E9D5FF"/>
                </a:solidFill>
                <a:latin typeface="Inter"/>
              </a:defRPr>
            </a:pPr>
            <a:r>
              <a:rPr i="0" sz="1800" b="1">
                <a:solidFill>
                  <a:srgbClr val="E9D5FF"/>
                </a:solidFill>
                <a:latin typeface="Inter"/>
              </a:rPr>
              <a:t>李明博士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8400" y="6324600"/>
            <a:ext cx="812800" cy="12700"/>
          </a:xfrm>
          <a:prstGeom prst="roundRect">
            <a:avLst>
              <a:gd name="adj" fmla="val 4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
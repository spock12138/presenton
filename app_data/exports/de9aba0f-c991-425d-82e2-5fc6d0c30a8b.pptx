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服务架构通过将应用拆分为多个独立服务，提升系统的可维护性和扩展性。每个服务独立部署，使用轻量级通信机制交互。当前多数中大型企业已采用该架构进行系统重构，以应对单体架构的复杂性问题。需注意服务间协调与运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服务架构的关键特征包括独立部署、技术异构性、去中心化治理、高内聚低耦合，以及弹性与容错能力。每个服务可独立发布，降低风险。不同服务可选用合适的技术栈，提升灵活性。团队自主性强，系统通过熔断、重试等机制增强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服务拆分的第一项原则，重点在于按业务能力划分服务。需要结合DDD的限界上下文概念，说明如何合理界定服务边界。通过电商示例帮助理解各服务的代码占比分布，同时强调避免形成分布式单体的重要性，确保服务间低耦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服务拆分在数据和团队维度的原则。强调数据库独立避免耦合，通过API或事件实现跨服务查询。团队结构应匹配服务架构，小团队负责少量服务以提升效率。服务数量需适中，10到100个为宜，平衡复杂性与灵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API网关作为系统的统一入口，负责将客户端请求路由到对应的微服务。它集成了认证、限流和日志等功能，提升系统安全性和可观测性。典型实现如Nginx+OpenResty或Spring Cloud Gateway可保证延迟低于5毫秒，对性能影响极小。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了服务间通信的两种主要模式：同步与异步。同步通信常用REST和gRPC，适用于实时调用；异步则通过消息队列实现，适合解耦和高吞吐场景。需根据实际需求选择合适方式。注意性能指标和适用场景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了容器化部署的核心实践，重点在于Docker与Kubernetes的协同作用。Docker确保环境一致，提升交付效率。Kubernetes提供自动化管理能力，包括弹性伸缩、无中断发布和服务发现。实际架构中通过Namespace、Deployment和Service实现标准化部署，支撑高可用微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服务架构并非适用于所有场景，需结合团队能力和系统复杂度审慎决策。建议从单体逐步演进到微服务，通过模块化和垂直拆分过渡。关键成功因素包括高效的CI/CD、完善的可观测性体系和统一的配置管理。数据显示，实施微服务后部署频率提升4倍，故障恢复进入分钟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85d08a35-1161-40ad-ae09-d52db7ca65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689100"/>
            <a:ext cx="6731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微服务架构概述（一）：定义与背景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2799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635500"/>
            <a:ext cx="6731000" cy="142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微服务架构将单体应用拆分为多个小型、独立服务，各服务独立运行并通过HTTP/REST或gRPC等轻量级机制通信。起源于2010年代初，用于解决单体架构的复杂性问题。核心目标是提升可维护性、可扩展性与部署灵活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63627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6705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5100" y="685800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6680200"/>
            <a:ext cx="977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7035800"/>
            <a:ext cx="9779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2026-01-04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9b1124-7cda-4ef9-bd93-d9c7e6d8c6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3" name="Picture 2" descr="6a713718-cf69-4709-94ff-ade527feff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609600"/>
            <a:ext cx="8966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微服务架构关键特征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200" y="4330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6156cacf-7a6d-4114-bee7-da2a5f6ec2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48310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2000" y="43307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独立部署，降低风险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42000" y="4330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631ef239-4227-421e-a521-418b1c9bc1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0" y="448310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54800" y="43307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技术异构，灵活选型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9200" y="5651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38f6d33d-15ae-488e-8271-aec7850df53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58039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32000" y="56515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去中心化治理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2000" y="6057900"/>
            <a:ext cx="3124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团队自治开发运维，提升敏捷性</a:t>
            </a:r>
          </a:p>
        </p:txBody>
      </p:sp>
      <p:pic>
        <p:nvPicPr>
          <p:cNvPr id="15" name="Picture 14" descr="c0c814f4-e2d0-43e4-9999-84a274c38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16" name="Picture 15" descr="2173f1b2-4ab7-45b3-b91d-c20817e2215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8" name="Picture 17" descr="d65ede96-ed8a-4efc-9f3a-4f4b234494e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服务拆分原则（一）：基于业务能力</a:t>
            </a:r>
          </a:p>
        </p:txBody>
      </p:sp>
      <p:pic>
        <p:nvPicPr>
          <p:cNvPr id="3" name="Picture 2" descr="5a7bc484-5fe4-4032-a0df-da6fce6155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2ba42640-08b5-4952-8948-a41f36795b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933700"/>
            <a:ext cx="6731000" cy="74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基于业务能力进行服务拆分，依照领域驱动设计划分限界上下文，实现高内聚、低耦合的微服务架构。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407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c4042d1a-9d93-47a6-8356-d71df06a1c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2418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40767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按业务领域划分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45339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47117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按用户、订单、库存等业务域划分服务边界。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534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9bdb2f50-c9f8-4714-8bef-6ad9ca461fb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55118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53467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遵循DDD原则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58039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9817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遵循DDD限界上下文，确保语义清晰和服务自治。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66167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36ddfbbd-0010-4ae2-a15b-26c9e9d338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67818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66167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防止过度耦合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70739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72517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避免服务间强依赖，防止演变为分布式单体。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1e8c636c-de12-4cbc-a3b1-b7555513ba5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3225800"/>
            <a:ext cx="56896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服务拆分原则（二）：数据与团队维度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2336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" name="Picture 3" descr="f9a47439-17dc-4378-a952-d3ad05a0e8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609600"/>
            <a:ext cx="40640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3454400"/>
            <a:ext cx="63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56000"/>
            <a:ext cx="6121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数据隔离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61214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各服务使用独立数据库，杜绝共享数据导致的依赖问题，跨服务访问通过API或事件机制完成。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3454400"/>
            <a:ext cx="63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556000"/>
            <a:ext cx="6121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康威定律应用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61214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系统架构应与组织结构一致，建议每5~9人团队负责1~3个服务，提高协作效率与响应能力。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5181600"/>
            <a:ext cx="63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83200"/>
            <a:ext cx="6121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粒度控制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842000"/>
            <a:ext cx="61214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服务总数控制在10~100个之间，避免过细或过粗拆分，兼顾运维成本与架构优势。</a:t>
            </a:r>
          </a:p>
        </p:txBody>
      </p:sp>
      <p:pic>
        <p:nvPicPr>
          <p:cNvPr id="14" name="Picture 13" descr="a0e73dce-e07d-43a1-852b-e964d58c2c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9b1124-7cda-4ef9-bd93-d9c7e6d8c6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3" name="Picture 2" descr="6a713718-cf69-4709-94ff-ade527feff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609600"/>
            <a:ext cx="8966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API 网关设计：核心作用与功能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200" y="4711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2db95698-4564-4ffb-a5e2-f976961188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86410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2000" y="4711700"/>
            <a:ext cx="31242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请求路由：路径与Header匹配转发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42000" y="4711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91323aa8-257b-49fb-82d7-1d57d654b9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0" y="486410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54800" y="47117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身份验证：统一鉴权机制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4800" y="5118100"/>
            <a:ext cx="3124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支持JWT、OAuth2.0身份校验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6184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53b71762-a003-4c88-9ba6-618870a98cf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6337300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32000" y="61849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流量控制：保障系统稳定性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6591300"/>
            <a:ext cx="3124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单用户QPS限制，防刷保护</a:t>
            </a:r>
          </a:p>
        </p:txBody>
      </p:sp>
      <p:pic>
        <p:nvPicPr>
          <p:cNvPr id="16" name="Picture 15" descr="c0c814f4-e2d0-43e4-9999-84a274c38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17" name="Picture 16" descr="2173f1b2-4ab7-45b3-b91d-c20817e2215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d58a99da-7f44-45fc-8cae-47dc02d2e3d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406400"/>
            <a:ext cx="9779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服务间通信模式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71600"/>
            <a:ext cx="9779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同步通信以REST和gRPC为主，异步基于消息队列如Kafka，各有典型应用场景与性能特征。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2108200"/>
            <a:ext cx="9753600" cy="6629400"/>
          </a:xfrm>
          <a:prstGeom prst="roundRect">
            <a:avLst>
              <a:gd name="adj" fmla="val 1532"/>
            </a:avLst>
          </a:prstGeom>
          <a:solidFill>
            <a:srgbClr val="F5F8FE"/>
          </a:solidFill>
          <a:ln w="12700">
            <a:solidFill>
              <a:srgbClr val="F3F4F6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f9cc01d3-4daf-46b7-b723-492212b59a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2324100"/>
            <a:ext cx="9321800" cy="619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81400" y="7099300"/>
            <a:ext cx="4191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6800" y="7099300"/>
            <a:ext cx="4191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gRPC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099300"/>
            <a:ext cx="4318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100" y="6934200"/>
            <a:ext cx="101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7900" y="5829300"/>
            <a:ext cx="1778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7900" y="4711700"/>
            <a:ext cx="1778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1700" y="3606800"/>
            <a:ext cx="254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1700" y="2489200"/>
            <a:ext cx="254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Inter"/>
              </a:defRPr>
            </a:pPr>
            <a:r>
              <a:rPr i="0" sz="1200" b="1">
                <a:solidFill>
                  <a:srgbClr val="09090B"/>
                </a:solidFill>
                <a:latin typeface="Inter"/>
              </a:rPr>
              <a:t>160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96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4A90E2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176000" y="17526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0800" y="20574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064ba8cf-ba64-4834-939d-653983948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0" y="2146300"/>
            <a:ext cx="254000" cy="25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39600" y="2082800"/>
            <a:ext cx="17907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REST/JSON 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80800" y="26162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REST简单通用，跨语言支持好，平均响应时间50~200ms，适合轻量调用。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76000" y="36957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80800" y="40005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06646e7d-374d-4d0e-99ad-e285c9c07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0" y="4102100"/>
            <a:ext cx="254000" cy="254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39600" y="4025900"/>
            <a:ext cx="11303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gRPC 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80800" y="45593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gRPC高效，序列化性能提升超60%，支持双向流，适合内部高频通信。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76000" y="56515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80800" y="59563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00dc72e7-65fe-41da-819a-0bbdf5ffda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7000" y="6045200"/>
            <a:ext cx="254000" cy="25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39600" y="598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异步通信能力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80800" y="65151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Kafka吞吐达百万TPS，延迟</a:t>
            </a:r>
            <a:r>
              <a:rPr i="0" sz="1400" b="0">
                <a:solidFill>
                  <a:srgbClr val="FFFFFF"/>
                </a:solidFill>
                <a:latin typeface="Inter"/>
              </a:rPr>
              <a:t>&lt;</a:t>
            </a:r>
            <a:r>
              <a:rPr i="0" sz="1400" b="0">
                <a:solidFill>
                  <a:srgbClr val="FFFFFF"/>
                </a:solidFill>
                <a:latin typeface="Inter"/>
              </a:rPr>
              <a:t>10ms，适用于事件驱动与流量削峰。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9bd2b63-a996-47c7-8afd-d074fabdc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05600"/>
            <a:ext cx="2438400" cy="2438400"/>
          </a:xfrm>
          <a:prstGeom prst="rect">
            <a:avLst/>
          </a:prstGeom>
        </p:spPr>
      </p:pic>
      <p:pic>
        <p:nvPicPr>
          <p:cNvPr id="3" name="Picture 2" descr="d31314f2-ef66-41a9-8351-3ad77a24b3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4800" y="0"/>
            <a:ext cx="3251200" cy="3251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7600" y="2235200"/>
            <a:ext cx="6502400" cy="48768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c5b0b161-415c-4476-93b8-d84f2585cb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" y="2235200"/>
            <a:ext cx="65024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34400" y="19558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容器化部署：Docker与K8s实践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7846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使用Docker打包服务与依赖，确保环境一致性。Kubernetes实现自动化编排，支持弹性扩缩容、滚动更新与服务发现，构建稳定高效的部署体系。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5156200"/>
            <a:ext cx="322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采用容器化的微服务比例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5511800"/>
            <a:ext cx="3225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4800" b="1">
                <a:solidFill>
                  <a:srgbClr val="9333EA"/>
                </a:solidFill>
                <a:latin typeface="Inter"/>
              </a:defRPr>
            </a:pPr>
            <a:r>
              <a:rPr i="0" sz="4800" b="1">
                <a:solidFill>
                  <a:srgbClr val="9333EA"/>
                </a:solidFill>
                <a:latin typeface="Inter"/>
              </a:rP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39600" y="5156200"/>
            <a:ext cx="322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自动扩缩容响应时间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9600" y="5511800"/>
            <a:ext cx="3225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4800" b="1">
                <a:solidFill>
                  <a:srgbClr val="9333EA"/>
                </a:solidFill>
                <a:latin typeface="Inter"/>
              </a:defRPr>
            </a:pPr>
            <a:r>
              <a:rPr i="0" sz="4800" b="1">
                <a:solidFill>
                  <a:srgbClr val="9333EA"/>
                </a:solidFill>
                <a:latin typeface="Inter"/>
              </a:rPr>
              <a:t>&lt;</a:t>
            </a:r>
            <a:r>
              <a:rPr i="0" sz="4800" b="1">
                <a:solidFill>
                  <a:srgbClr val="9333EA"/>
                </a:solidFill>
                <a:latin typeface="Inter"/>
              </a:rPr>
              <a:t>30s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6426200"/>
            <a:ext cx="322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发布可用性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6781800"/>
            <a:ext cx="3225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4800" b="1">
                <a:solidFill>
                  <a:srgbClr val="9333EA"/>
                </a:solidFill>
                <a:latin typeface="Inter"/>
              </a:defRPr>
            </a:pPr>
            <a:r>
              <a:rPr i="0" sz="4800" b="1">
                <a:solidFill>
                  <a:srgbClr val="9333EA"/>
                </a:solidFill>
                <a:latin typeface="Inter"/>
              </a:rPr>
              <a:t>99.95%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742496a-dcee-4f82-8cda-3980bac2df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d742496a-dcee-4f82-8cda-3980bac2df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7432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总结与最佳实践建议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3700" y="4114800"/>
            <a:ext cx="4889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部署频率提升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3700" y="4572000"/>
            <a:ext cx="4889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4倍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3700" y="5537200"/>
            <a:ext cx="48641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7700" y="5791200"/>
            <a:ext cx="438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采用微服务后，团队平均部署频率相比之前提升了4倍。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1200" y="4114800"/>
            <a:ext cx="5156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故障恢复时间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1200" y="4572000"/>
            <a:ext cx="5156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分钟级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1200" y="5537200"/>
            <a:ext cx="51308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5200" y="5791200"/>
            <a:ext cx="4648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故障平均恢复时间缩短至分钟级别，显著提升系统可用性。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
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本次汇报总结2025年度工作成果，重点展示目标完成情况、营收增长及客户满意度。整体达成情况良好，目标完成率达92%，营收实现18.7%的稳健增长，客户满意度达94.3分，体现团队高效执行与客户高度认可。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年度我们取得了显著的工作成果。重点项目完成情况良好，准时交付率达到91.7%。销售额大幅增长，超出年度目标。新市场和客户拓展进展顺利，新产品线贡献了超过两成的收入。同时，通过流程优化有效降低了运营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以扇形图展示关键绩效指标的分布情况。销售目标完成率占118.5%，客户投诉率为1.2%，培训覆盖率达100%，新产品开发周期为5.8个月，系统上线率为100%。各项指标共同反映整体绩效达成状况，其中培训与系统上线表现突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8aabc367-4f1d-4777-8598-1ae17b2658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4257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2025年度工作总结与回顾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2545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6101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2025年实现目标完成率92%，年度营收增长18.7%，客户满意度达94.3分，整体业绩稳步提升，为2026年发展奠定坚实基础。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56261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5969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18600" y="6121400"/>
            <a:ext cx="889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[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5943600"/>
            <a:ext cx="939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[姓名]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299200"/>
            <a:ext cx="939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32e667-1c73-43b0-bcdf-e8996b661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fe32e667-1c73-43b0-bcdf-e8996b661e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6162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主要工作成果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87800"/>
            <a:ext cx="449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项目准时交付率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445000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91.7%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" y="5410200"/>
            <a:ext cx="4470400" cy="101600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0000" y="5664200"/>
            <a:ext cx="3987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12个重点项目中11个按时完成，体现项目管理效率提升。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2800" y="3987800"/>
            <a:ext cx="449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年度销售额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2800" y="4445000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8.65亿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2800" y="5410200"/>
            <a:ext cx="4470400" cy="101600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6800" y="5664200"/>
            <a:ext cx="3987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年度销售额达8,650万元，较去年增长18.7%，并超出目标18.5%。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9600" y="3987800"/>
            <a:ext cx="449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新增客户数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9600" y="4445000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217家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69600" y="5410200"/>
            <a:ext cx="4470400" cy="101600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23600" y="5664200"/>
            <a:ext cx="3987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新增3个市场区域和217家客户，推动客户总量增至1,438家。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406400"/>
            <a:ext cx="9779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关键绩效指标（KPI）达成情况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133600"/>
            <a:ext cx="9779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核心KPI全面达成，销售、服务、人才与运营效率均有显著提升。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2870200"/>
            <a:ext cx="9753600" cy="5867400"/>
          </a:xfrm>
          <a:prstGeom prst="roundRect">
            <a:avLst>
              <a:gd name="adj" fmla="val 1731"/>
            </a:avLst>
          </a:prstGeom>
          <a:solidFill>
            <a:srgbClr val="F5F8FE"/>
          </a:solidFill>
          <a:ln w="12700">
            <a:solidFill>
              <a:srgbClr val="F3F4F6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6c4adaa1-a8c9-4590-8463-133750857a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3086100"/>
            <a:ext cx="9321800" cy="5435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418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0C87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657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0C87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896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0C87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262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0C87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50100" y="760730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50C878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76000" y="2044700"/>
            <a:ext cx="4064000" cy="1460500"/>
          </a:xfrm>
          <a:prstGeom prst="roundRect">
            <a:avLst>
              <a:gd name="adj" fmla="val 1391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80800" y="23495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0234e4bc-0577-4840-9054-0865c00f0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0" y="2438400"/>
            <a:ext cx="254000" cy="25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39600" y="2374900"/>
            <a:ext cx="1625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销售目标完成率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80800" y="2908300"/>
            <a:ext cx="34798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销售目标完成率达118.5%，超出预期目标。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76000" y="3695700"/>
            <a:ext cx="4064000" cy="1752600"/>
          </a:xfrm>
          <a:prstGeom prst="roundRect">
            <a:avLst>
              <a:gd name="adj" fmla="val 11594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80800" y="40005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8" name="Picture 17" descr="ef7c63a0-1e24-4fb9-ae23-92c660f404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0" y="4102100"/>
            <a:ext cx="254000" cy="25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39600" y="4025900"/>
            <a:ext cx="1168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客户投诉率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80800" y="4559300"/>
            <a:ext cx="34798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客户投诉率降至1.2%，同比减少0.6个百分点。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76000" y="5651500"/>
            <a:ext cx="4064000" cy="1460500"/>
          </a:xfrm>
          <a:prstGeom prst="roundRect">
            <a:avLst>
              <a:gd name="adj" fmla="val 1391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80800" y="59563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3" name="Picture 22" descr="059ab533-28db-402d-b892-a999205c3f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7000" y="6045200"/>
            <a:ext cx="254000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39600" y="5981700"/>
            <a:ext cx="1168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FFFFFF"/>
                </a:solidFill>
                <a:latin typeface="Inter"/>
              </a:defRPr>
            </a:pPr>
            <a:r>
              <a:rPr i="0" sz="1800" b="1">
                <a:solidFill>
                  <a:srgbClr val="FFFFFF"/>
                </a:solidFill>
                <a:latin typeface="Inter"/>
              </a:rPr>
              <a:t>培训覆盖率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80800" y="6515100"/>
            <a:ext cx="34798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员工培训覆盖率达100%，人均时长42小时。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